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20"/>
    <p:sldId id="271" r:id="rId21"/>
    <p:sldId id="272" r:id="rId22"/>
    <p:sldId id="273" r:id="rId23"/>
    <p:sldId id="274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8745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Otwieramy prezentację jako projekt WMS: jeden system łączący web, mobile i API. Podkreśl: celem jest porządek w magazynie, szybka realizacja operacji i widoczność danych.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porządkuje wystąpienie. Możesz powiedzieć, że zaczynamy od kontekstu i zespołu, później przechodzimy przez technologię, funkcje i proces, a kończymy testami, planem rozwoju i wdrożeniem.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Przedstaw problem jako koszt ukryty: brak informacji, praca na arkuszach i pomyłki. Następnie przejdź do celu: wszystkie operacje mają być w systemie i zostawiać ślad.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Wyjaśnij prostym językiem: web zarządza, mobile wykonuje, API spina dane. To jest argument techniczny i biznesowy: jedna prawda o stanie magazynu.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Przejdź po funkcjach szybko. Celem jest pokazanie kompletności: słowniki, dokumenty, zadania, raporty i eksport.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Najważniejsze: role nie są tylko etykietami. Testy wykazały, że dostęp jest ograniczany zgodnie z rolą. To sprzedaje bezpieczeństwo i kontrolę.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slajd opowiedz jako scenariusz: administrator/kierownik przygotowuje dane, powstaje dokument, magazynier wykonuje zadanie na telefonie, a system aktualizuje raporty.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Pokaż tylko jeden scenariusz. Nie czytaj wszystkich danych — powiedz, że sprawdzono API, UAT PZ/MM/RW, role i połączenie web-mobile-backend.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Nie sprzedawaj tego jako produkcji dla tysięcy użytkowników. Powiedz: system jest gotowy na pilotaż, a benchmark pokazuje granicę i kierunek dalszego skalowania.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 nie używaj nazw konkurencji, jeśli nie macie źródeł. Porównuj z realną alternatywą klienta: Excel, ręczne procesy i duże systemy o cięższym wdrożeniu.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Opowiedz o współpracy: każdy moduł miał swój zakres, ale najważniejsza była integracja przez API i testy E2E, bo to sprawdza cały produkt.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Podkreśl uczciwie: repo pokazuje głównie stabilizację, testy i warunki wdrożenia. Funkcje typu skanowanie kodów czy KPI są kierunkiem rozwoju, ale trzeba je potwierdzić z zespołem.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Zamknij prezentację: proponowany następny krok to pilotaż. Podkreśl, że najpierw weryfikujemy proces klienta, a pełne wdrożenie podejmujemy po wynikach.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Relationship Id="rId3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5330952" cy="6858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66928" y="15087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</a:rPr>
              <a:t>WMS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214884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System do zarządzania magazynem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Panel webowy + aplikacja mobilna + API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980944"/>
            <a:ext cx="1664208" cy="292608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66928" y="3044952"/>
            <a:ext cx="16642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FFFFF"/>
                </a:solidFill>
              </a:rPr>
              <a:t>WEB + MOBILE + API</a:t>
            </a:r>
            <a:endParaRPr lang="en-US" sz="620" dirty="0"/>
          </a:p>
        </p:txBody>
      </p:sp>
      <p:sp>
        <p:nvSpPr>
          <p:cNvPr id="7" name="Shape 5"/>
          <p:cNvSpPr/>
          <p:nvPr/>
        </p:nvSpPr>
        <p:spPr>
          <a:xfrm>
            <a:off x="2450592" y="2980944"/>
            <a:ext cx="1664208" cy="292608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2450592" y="3044952"/>
            <a:ext cx="16642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FFFFF"/>
                </a:solidFill>
              </a:rPr>
              <a:t>GOTOWE DO DEMO</a:t>
            </a:r>
            <a:endParaRPr lang="en-US" sz="620" dirty="0"/>
          </a:p>
        </p:txBody>
      </p:sp>
      <p:sp>
        <p:nvSpPr>
          <p:cNvPr id="9" name="Shape 7"/>
          <p:cNvSpPr/>
          <p:nvPr/>
        </p:nvSpPr>
        <p:spPr>
          <a:xfrm>
            <a:off x="4334256" y="2980944"/>
            <a:ext cx="1554480" cy="29260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334256" y="3044952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FFFFF"/>
                </a:solidFill>
              </a:rPr>
              <a:t>ROLE I RAPORTY</a:t>
            </a:r>
            <a:endParaRPr lang="en-US" sz="620" dirty="0"/>
          </a:p>
        </p:txBody>
      </p:sp>
      <p:sp>
        <p:nvSpPr>
          <p:cNvPr id="11" name="Text 9"/>
          <p:cNvSpPr/>
          <p:nvPr/>
        </p:nvSpPr>
        <p:spPr>
          <a:xfrm>
            <a:off x="566928" y="579729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</a:rPr>
              <a:t>Prezentacja projektu i rozwiązania sprzedażowego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360920" y="713232"/>
            <a:ext cx="201168" cy="201168"/>
          </a:xfrm>
          <a:prstGeom prst="cube">
            <a:avLst/>
          </a:prstGeom>
          <a:solidFill>
            <a:srgbClr val="2563EB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7863840" y="713232"/>
            <a:ext cx="201168" cy="201168"/>
          </a:xfrm>
          <a:prstGeom prst="cube">
            <a:avLst/>
          </a:prstGeom>
          <a:solidFill>
            <a:srgbClr val="10B981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8366760" y="713232"/>
            <a:ext cx="201168" cy="201168"/>
          </a:xfrm>
          <a:prstGeom prst="cube">
            <a:avLst/>
          </a:prstGeom>
          <a:solidFill>
            <a:srgbClr val="F59E0B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8869680" y="713232"/>
            <a:ext cx="201168" cy="201168"/>
          </a:xfrm>
          <a:prstGeom prst="cube">
            <a:avLst/>
          </a:prstGeom>
          <a:solidFill>
            <a:srgbClr val="64748B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360920" y="1225296"/>
            <a:ext cx="201168" cy="201168"/>
          </a:xfrm>
          <a:prstGeom prst="cube">
            <a:avLst/>
          </a:prstGeom>
          <a:solidFill>
            <a:srgbClr val="2563EB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7863840" y="1225296"/>
            <a:ext cx="201168" cy="201168"/>
          </a:xfrm>
          <a:prstGeom prst="cube">
            <a:avLst/>
          </a:prstGeom>
          <a:solidFill>
            <a:srgbClr val="10B981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8366760" y="1225296"/>
            <a:ext cx="201168" cy="201168"/>
          </a:xfrm>
          <a:prstGeom prst="cube">
            <a:avLst/>
          </a:prstGeom>
          <a:solidFill>
            <a:srgbClr val="F59E0B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8869680" y="1225296"/>
            <a:ext cx="201168" cy="201168"/>
          </a:xfrm>
          <a:prstGeom prst="cube">
            <a:avLst/>
          </a:prstGeom>
          <a:solidFill>
            <a:srgbClr val="64748B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7360920" y="1737360"/>
            <a:ext cx="201168" cy="201168"/>
          </a:xfrm>
          <a:prstGeom prst="cube">
            <a:avLst/>
          </a:prstGeom>
          <a:solidFill>
            <a:srgbClr val="2563EB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7863840" y="1737360"/>
            <a:ext cx="201168" cy="201168"/>
          </a:xfrm>
          <a:prstGeom prst="cube">
            <a:avLst/>
          </a:prstGeom>
          <a:solidFill>
            <a:srgbClr val="10B981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8366760" y="1737360"/>
            <a:ext cx="201168" cy="201168"/>
          </a:xfrm>
          <a:prstGeom prst="cube">
            <a:avLst/>
          </a:prstGeom>
          <a:solidFill>
            <a:srgbClr val="F59E0B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8869680" y="1737360"/>
            <a:ext cx="201168" cy="201168"/>
          </a:xfrm>
          <a:prstGeom prst="cube">
            <a:avLst/>
          </a:prstGeom>
          <a:solidFill>
            <a:srgbClr val="64748B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7360920" y="2249424"/>
            <a:ext cx="201168" cy="201168"/>
          </a:xfrm>
          <a:prstGeom prst="cube">
            <a:avLst/>
          </a:prstGeom>
          <a:solidFill>
            <a:srgbClr val="2563EB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7863840" y="2249424"/>
            <a:ext cx="201168" cy="201168"/>
          </a:xfrm>
          <a:prstGeom prst="cube">
            <a:avLst/>
          </a:prstGeom>
          <a:solidFill>
            <a:srgbClr val="10B981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8366760" y="2249424"/>
            <a:ext cx="201168" cy="201168"/>
          </a:xfrm>
          <a:prstGeom prst="cube">
            <a:avLst/>
          </a:prstGeom>
          <a:solidFill>
            <a:srgbClr val="F59E0B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8869680" y="2249424"/>
            <a:ext cx="201168" cy="201168"/>
          </a:xfrm>
          <a:prstGeom prst="cube">
            <a:avLst/>
          </a:prstGeom>
          <a:solidFill>
            <a:srgbClr val="64748B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7360920" y="2761488"/>
            <a:ext cx="201168" cy="201168"/>
          </a:xfrm>
          <a:prstGeom prst="cube">
            <a:avLst/>
          </a:prstGeom>
          <a:solidFill>
            <a:srgbClr val="2563EB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7863840" y="2761488"/>
            <a:ext cx="201168" cy="201168"/>
          </a:xfrm>
          <a:prstGeom prst="cube">
            <a:avLst/>
          </a:prstGeom>
          <a:solidFill>
            <a:srgbClr val="10B981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8366760" y="2761488"/>
            <a:ext cx="201168" cy="201168"/>
          </a:xfrm>
          <a:prstGeom prst="cube">
            <a:avLst/>
          </a:prstGeom>
          <a:solidFill>
            <a:srgbClr val="F59E0B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8869680" y="2761488"/>
            <a:ext cx="201168" cy="201168"/>
          </a:xfrm>
          <a:prstGeom prst="cube">
            <a:avLst/>
          </a:prstGeom>
          <a:solidFill>
            <a:srgbClr val="64748B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11631168" y="6647688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Agenda prezentacji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Układ prezentacji: projekt, funkcje, testy, współpraca i wdrożenie.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58368" y="1234440"/>
            <a:ext cx="52578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95528" y="1344168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95528" y="1408176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l-PL" dirty="0"/>
              <a:t>  </a:t>
            </a:r>
            <a:r>
              <a:rPr dirty="0"/>
              <a:t>1</a:t>
            </a:r>
          </a:p>
        </p:txBody>
      </p:sp>
      <p:sp>
        <p:nvSpPr>
          <p:cNvPr id="7" name="Text 5"/>
          <p:cNvSpPr/>
          <p:nvPr/>
        </p:nvSpPr>
        <p:spPr>
          <a:xfrm>
            <a:off x="1188720" y="1389888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Cel projektu</a:t>
            </a:r>
          </a:p>
        </p:txBody>
      </p:sp>
      <p:sp>
        <p:nvSpPr>
          <p:cNvPr id="8" name="Shape 6"/>
          <p:cNvSpPr/>
          <p:nvPr/>
        </p:nvSpPr>
        <p:spPr>
          <a:xfrm>
            <a:off x="658368" y="1947672"/>
            <a:ext cx="52578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795528" y="2057400"/>
            <a:ext cx="274320" cy="2743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r>
              <a:rPr lang="pl-PL" dirty="0"/>
              <a:t> </a:t>
            </a:r>
            <a:endParaRPr dirty="0"/>
          </a:p>
        </p:txBody>
      </p:sp>
      <p:sp>
        <p:nvSpPr>
          <p:cNvPr id="10" name="Text 8"/>
          <p:cNvSpPr/>
          <p:nvPr/>
        </p:nvSpPr>
        <p:spPr>
          <a:xfrm>
            <a:off x="795528" y="2121408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l-PL" dirty="0"/>
              <a:t>  </a:t>
            </a:r>
            <a:r>
              <a:rPr dirty="0"/>
              <a:t>2</a:t>
            </a:r>
          </a:p>
        </p:txBody>
      </p:sp>
      <p:sp>
        <p:nvSpPr>
          <p:cNvPr id="11" name="Text 9"/>
          <p:cNvSpPr/>
          <p:nvPr/>
        </p:nvSpPr>
        <p:spPr>
          <a:xfrm>
            <a:off x="1188720" y="2103120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Stack technologiczny</a:t>
            </a:r>
          </a:p>
        </p:txBody>
      </p:sp>
      <p:sp>
        <p:nvSpPr>
          <p:cNvPr id="12" name="Shape 10"/>
          <p:cNvSpPr/>
          <p:nvPr/>
        </p:nvSpPr>
        <p:spPr>
          <a:xfrm>
            <a:off x="658368" y="2660904"/>
            <a:ext cx="52578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795528" y="2770632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95528" y="2834640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l-PL" dirty="0"/>
              <a:t>  </a:t>
            </a:r>
            <a:r>
              <a:rPr dirty="0"/>
              <a:t>3</a:t>
            </a:r>
          </a:p>
        </p:txBody>
      </p:sp>
      <p:sp>
        <p:nvSpPr>
          <p:cNvPr id="15" name="Text 13"/>
          <p:cNvSpPr/>
          <p:nvPr/>
        </p:nvSpPr>
        <p:spPr>
          <a:xfrm>
            <a:off x="1188720" y="2816352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Funkcjonalności</a:t>
            </a:r>
          </a:p>
        </p:txBody>
      </p:sp>
      <p:sp>
        <p:nvSpPr>
          <p:cNvPr id="16" name="Shape 14"/>
          <p:cNvSpPr/>
          <p:nvPr/>
        </p:nvSpPr>
        <p:spPr>
          <a:xfrm>
            <a:off x="658368" y="3374136"/>
            <a:ext cx="52578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795528" y="3483864"/>
            <a:ext cx="274320" cy="2743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95528" y="3547872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l-PL" dirty="0"/>
              <a:t>  </a:t>
            </a:r>
            <a:r>
              <a:rPr dirty="0"/>
              <a:t>4</a:t>
            </a:r>
          </a:p>
        </p:txBody>
      </p:sp>
      <p:sp>
        <p:nvSpPr>
          <p:cNvPr id="19" name="Text 17"/>
          <p:cNvSpPr/>
          <p:nvPr/>
        </p:nvSpPr>
        <p:spPr>
          <a:xfrm>
            <a:off x="1188720" y="3529584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Role i uprawnienia</a:t>
            </a:r>
          </a:p>
        </p:txBody>
      </p:sp>
      <p:sp>
        <p:nvSpPr>
          <p:cNvPr id="20" name="Shape 18"/>
          <p:cNvSpPr/>
          <p:nvPr/>
        </p:nvSpPr>
        <p:spPr>
          <a:xfrm>
            <a:off x="658368" y="4087368"/>
            <a:ext cx="52578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786197" y="4197096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795528" y="4261104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l-PL" dirty="0"/>
              <a:t>  </a:t>
            </a:r>
            <a:r>
              <a:rPr dirty="0"/>
              <a:t>5</a:t>
            </a:r>
          </a:p>
        </p:txBody>
      </p:sp>
      <p:sp>
        <p:nvSpPr>
          <p:cNvPr id="23" name="Text 21"/>
          <p:cNvSpPr/>
          <p:nvPr/>
        </p:nvSpPr>
        <p:spPr>
          <a:xfrm>
            <a:off x="1188720" y="4242816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Proces działania</a:t>
            </a:r>
          </a:p>
        </p:txBody>
      </p:sp>
      <p:sp>
        <p:nvSpPr>
          <p:cNvPr id="24" name="Shape 22"/>
          <p:cNvSpPr/>
          <p:nvPr/>
        </p:nvSpPr>
        <p:spPr>
          <a:xfrm>
            <a:off x="658368" y="4800600"/>
            <a:ext cx="52578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795528" y="4910328"/>
            <a:ext cx="274320" cy="2743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795528" y="4974336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l-PL" dirty="0"/>
              <a:t>  </a:t>
            </a:r>
            <a:r>
              <a:rPr dirty="0"/>
              <a:t>6</a:t>
            </a:r>
          </a:p>
        </p:txBody>
      </p:sp>
      <p:sp>
        <p:nvSpPr>
          <p:cNvPr id="27" name="Text 25"/>
          <p:cNvSpPr/>
          <p:nvPr/>
        </p:nvSpPr>
        <p:spPr>
          <a:xfrm>
            <a:off x="1188720" y="4956048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Testy</a:t>
            </a:r>
          </a:p>
        </p:txBody>
      </p:sp>
      <p:sp>
        <p:nvSpPr>
          <p:cNvPr id="28" name="Shape 26"/>
          <p:cNvSpPr/>
          <p:nvPr/>
        </p:nvSpPr>
        <p:spPr>
          <a:xfrm>
            <a:off x="6373368" y="1234440"/>
            <a:ext cx="52578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6510528" y="1344168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6510528" y="1408176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l-PL" dirty="0"/>
              <a:t>  </a:t>
            </a:r>
            <a:r>
              <a:rPr dirty="0"/>
              <a:t>7</a:t>
            </a:r>
          </a:p>
        </p:txBody>
      </p:sp>
      <p:sp>
        <p:nvSpPr>
          <p:cNvPr id="31" name="Text 29"/>
          <p:cNvSpPr/>
          <p:nvPr/>
        </p:nvSpPr>
        <p:spPr>
          <a:xfrm>
            <a:off x="6903720" y="1389888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Porównanie z konkurencją</a:t>
            </a:r>
          </a:p>
        </p:txBody>
      </p:sp>
      <p:sp>
        <p:nvSpPr>
          <p:cNvPr id="32" name="Shape 30"/>
          <p:cNvSpPr/>
          <p:nvPr/>
        </p:nvSpPr>
        <p:spPr>
          <a:xfrm>
            <a:off x="6373368" y="1947672"/>
            <a:ext cx="52578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6510528" y="2057400"/>
            <a:ext cx="274320" cy="2743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6510528" y="2121408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l-PL" dirty="0"/>
              <a:t>  </a:t>
            </a:r>
            <a:r>
              <a:rPr dirty="0"/>
              <a:t>8</a:t>
            </a:r>
          </a:p>
        </p:txBody>
      </p:sp>
      <p:sp>
        <p:nvSpPr>
          <p:cNvPr id="35" name="Text 33"/>
          <p:cNvSpPr/>
          <p:nvPr/>
        </p:nvSpPr>
        <p:spPr>
          <a:xfrm>
            <a:off x="6903720" y="2103120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Metodologia pracy</a:t>
            </a:r>
          </a:p>
        </p:txBody>
      </p:sp>
      <p:sp>
        <p:nvSpPr>
          <p:cNvPr id="36" name="Shape 34"/>
          <p:cNvSpPr/>
          <p:nvPr/>
        </p:nvSpPr>
        <p:spPr>
          <a:xfrm>
            <a:off x="6373368" y="2660904"/>
            <a:ext cx="52578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6510528" y="2770632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6510528" y="2834640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l-PL" dirty="0"/>
              <a:t>  </a:t>
            </a:r>
            <a:r>
              <a:rPr dirty="0"/>
              <a:t>9</a:t>
            </a:r>
          </a:p>
        </p:txBody>
      </p:sp>
      <p:sp>
        <p:nvSpPr>
          <p:cNvPr id="39" name="Text 37"/>
          <p:cNvSpPr/>
          <p:nvPr/>
        </p:nvSpPr>
        <p:spPr>
          <a:xfrm>
            <a:off x="6903720" y="2816352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Plan rozwoju</a:t>
            </a:r>
          </a:p>
        </p:txBody>
      </p:sp>
      <p:sp>
        <p:nvSpPr>
          <p:cNvPr id="40" name="Shape 38"/>
          <p:cNvSpPr/>
          <p:nvPr/>
        </p:nvSpPr>
        <p:spPr>
          <a:xfrm>
            <a:off x="6373368" y="3374136"/>
            <a:ext cx="52578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6510528" y="3483864"/>
            <a:ext cx="274320" cy="2743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6510528" y="3547872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dirty="0"/>
              <a:t>10</a:t>
            </a:r>
          </a:p>
        </p:txBody>
      </p:sp>
      <p:sp>
        <p:nvSpPr>
          <p:cNvPr id="43" name="Text 41"/>
          <p:cNvSpPr/>
          <p:nvPr/>
        </p:nvSpPr>
        <p:spPr>
          <a:xfrm>
            <a:off x="6903720" y="3529584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Proces wdrożenia</a:t>
            </a:r>
          </a:p>
        </p:txBody>
      </p:sp>
      <p:sp>
        <p:nvSpPr>
          <p:cNvPr id="46" name="Text 44"/>
          <p:cNvSpPr/>
          <p:nvPr/>
        </p:nvSpPr>
        <p:spPr>
          <a:xfrm>
            <a:off x="6510528" y="4261104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6903720" y="4242816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/>
          </a:p>
        </p:txBody>
      </p:sp>
      <p:sp>
        <p:nvSpPr>
          <p:cNvPr id="48" name="Shape 4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320040" y="6629400"/>
            <a:ext cx="4114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CBD5E1"/>
                </a:solidFill>
              </a:rPr>
              <a:t>WMS • projekt magazynowy • GitHub</a:t>
            </a:r>
            <a:endParaRPr lang="en-US" sz="550" dirty="0"/>
          </a:p>
        </p:txBody>
      </p:sp>
      <p:sp>
        <p:nvSpPr>
          <p:cNvPr id="50" name="Text 48"/>
          <p:cNvSpPr/>
          <p:nvPr/>
        </p:nvSpPr>
        <p:spPr>
          <a:xfrm>
            <a:off x="11612880" y="6629400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Cel projektu: uporządkować pracę magazynu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System odpowiada na problemy operacyjne: aktualny stan, dokumenty, zadania i raporty w jednym przepływie.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2423160" cy="246888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54864" cy="2468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04672" y="16002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</a:rPr>
              <a:t>Brak aktualnego stanu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04672" y="27889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475569"/>
                </a:solidFill>
              </a:rPr>
              <a:t>zapas widoczny dopiero po ręcznej aktualizacji</a:t>
            </a:r>
            <a:endParaRPr lang="en-US" sz="740" dirty="0"/>
          </a:p>
        </p:txBody>
      </p:sp>
      <p:sp>
        <p:nvSpPr>
          <p:cNvPr id="8" name="Shape 6"/>
          <p:cNvSpPr/>
          <p:nvPr/>
        </p:nvSpPr>
        <p:spPr>
          <a:xfrm>
            <a:off x="3429000" y="1325880"/>
            <a:ext cx="2423160" cy="246888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3429000" y="1325880"/>
            <a:ext cx="54864" cy="2468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3639312" y="16002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</a:rPr>
              <a:t>Operacje poza systemem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39312" y="27889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475569"/>
                </a:solidFill>
              </a:rPr>
              <a:t>PZ/MM/RW w notatkach lub arkuszach</a:t>
            </a:r>
            <a:endParaRPr lang="en-US" sz="740" dirty="0"/>
          </a:p>
        </p:txBody>
      </p:sp>
      <p:sp>
        <p:nvSpPr>
          <p:cNvPr id="12" name="Shape 10"/>
          <p:cNvSpPr/>
          <p:nvPr/>
        </p:nvSpPr>
        <p:spPr>
          <a:xfrm>
            <a:off x="6263640" y="1325880"/>
            <a:ext cx="2423160" cy="246888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6263640" y="1325880"/>
            <a:ext cx="54864" cy="24688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473952" y="16002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</a:rPr>
              <a:t>Trudna odpowiedzialność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73952" y="27889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475569"/>
                </a:solidFill>
              </a:rPr>
              <a:t>brak jasnego śladu kto, co i kiedy wykonał</a:t>
            </a:r>
            <a:endParaRPr lang="en-US" sz="740" dirty="0"/>
          </a:p>
        </p:txBody>
      </p:sp>
      <p:sp>
        <p:nvSpPr>
          <p:cNvPr id="16" name="Shape 14"/>
          <p:cNvSpPr/>
          <p:nvPr/>
        </p:nvSpPr>
        <p:spPr>
          <a:xfrm>
            <a:off x="9098280" y="1325880"/>
            <a:ext cx="2423160" cy="246888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9098280" y="1325880"/>
            <a:ext cx="54864" cy="2468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9308592" y="16002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</a:rPr>
              <a:t>Błędy kompletacji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308592" y="27889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475569"/>
                </a:solidFill>
              </a:rPr>
              <a:t>pomyłki przekładają się na reklamacje</a:t>
            </a:r>
            <a:endParaRPr lang="en-US" sz="740" dirty="0"/>
          </a:p>
        </p:txBody>
      </p:sp>
      <p:sp>
        <p:nvSpPr>
          <p:cNvPr id="20" name="Text 18"/>
          <p:cNvSpPr/>
          <p:nvPr/>
        </p:nvSpPr>
        <p:spPr>
          <a:xfrm>
            <a:off x="1554480" y="4800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</a:rPr>
              <a:t>WMS zamienia magazyn z „reaktywnego” na sterowany danymi.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320040" y="6629400"/>
            <a:ext cx="4114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CBD5E1"/>
                </a:solidFill>
              </a:rPr>
              <a:t>WMS • projekt magazynowy • GitHub</a:t>
            </a:r>
            <a:endParaRPr lang="en-US" sz="550" dirty="0"/>
          </a:p>
        </p:txBody>
      </p:sp>
      <p:sp>
        <p:nvSpPr>
          <p:cNvPr id="23" name="Text 21"/>
          <p:cNvSpPr/>
          <p:nvPr/>
        </p:nvSpPr>
        <p:spPr>
          <a:xfrm>
            <a:off x="11612880" y="6629400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Stack technologiczny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System składa się z backendu FastAPI, panelu webowego React i aplikacji mobilnej Flutter.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3108960" cy="4389120"/>
          </a:xfrm>
          <a:prstGeom prst="roundRect">
            <a:avLst>
              <a:gd name="adj" fmla="val 1765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50976" y="1481328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</a:rPr>
              <a:t>PANEL WEBOWY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87552" y="187452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React / TypeScript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zarządzanie magazynem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434840" y="1965960"/>
            <a:ext cx="3337560" cy="1783080"/>
          </a:xfrm>
          <a:prstGeom prst="roundRect">
            <a:avLst>
              <a:gd name="adj" fmla="val 3077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846320" y="230428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API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120640" y="2194559"/>
            <a:ext cx="1920240" cy="667511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API + BAZA DANYCH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4846320" y="2944368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</a:rPr>
              <a:t>FastAPI / Python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63440" y="3182112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475569"/>
                </a:solidFill>
              </a:rPr>
              <a:t>wspólna logika i dostęp do danych</a:t>
            </a:r>
            <a:endParaRPr lang="en-US" sz="730" dirty="0"/>
          </a:p>
        </p:txBody>
      </p:sp>
      <p:sp>
        <p:nvSpPr>
          <p:cNvPr id="12" name="Shape 10"/>
          <p:cNvSpPr/>
          <p:nvPr/>
        </p:nvSpPr>
        <p:spPr>
          <a:xfrm>
            <a:off x="8458200" y="1143000"/>
            <a:ext cx="3108960" cy="4389120"/>
          </a:xfrm>
          <a:prstGeom prst="roundRect">
            <a:avLst>
              <a:gd name="adj" fmla="val 1765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741664" y="1481328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</a:rPr>
              <a:t>APLIKACJA MOBILNA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732520" y="187452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Flutter / Dart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lista zadań i wykonanie operacji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767328" y="2788920"/>
            <a:ext cx="667512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772400" y="2788920"/>
            <a:ext cx="685800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097280" y="5687568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475569"/>
                </a:solidFill>
              </a:rPr>
              <a:t>Repozytorium: TypeScript 48,4% • Python 21,2% • Dart 11,7% • JavaScript 5,9% • HTML 5,0%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320040" y="6629400"/>
            <a:ext cx="4114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CBD5E1"/>
                </a:solidFill>
              </a:rPr>
              <a:t>WMS • projekt magazynowy • GitHub</a:t>
            </a:r>
            <a:endParaRPr lang="en-US" sz="550" dirty="0"/>
          </a:p>
        </p:txBody>
      </p:sp>
      <p:sp>
        <p:nvSpPr>
          <p:cNvPr id="20" name="Text 18"/>
          <p:cNvSpPr/>
          <p:nvPr/>
        </p:nvSpPr>
        <p:spPr>
          <a:xfrm>
            <a:off x="11612880" y="6629400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Funkcjonalności systemu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Zakres projektu odpowiada codziennej pracy magazynu.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196596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54864" cy="1280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86968" y="1463040"/>
            <a:ext cx="15361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</a:rPr>
              <a:t>Użytkownicy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86968" y="1920240"/>
            <a:ext cx="153619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475569"/>
                </a:solidFill>
              </a:rPr>
              <a:t>role i uprawnienia</a:t>
            </a:r>
            <a:endParaRPr lang="en-US" sz="680" dirty="0"/>
          </a:p>
        </p:txBody>
      </p:sp>
      <p:sp>
        <p:nvSpPr>
          <p:cNvPr id="8" name="Shape 6"/>
          <p:cNvSpPr/>
          <p:nvPr/>
        </p:nvSpPr>
        <p:spPr>
          <a:xfrm>
            <a:off x="2944368" y="1234440"/>
            <a:ext cx="196596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2944368" y="1234440"/>
            <a:ext cx="54864" cy="12801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3145536" y="1463040"/>
            <a:ext cx="15361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</a:rPr>
              <a:t>Produkty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145536" y="1920240"/>
            <a:ext cx="153619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475569"/>
                </a:solidFill>
              </a:rPr>
              <a:t>kartoteka SKU</a:t>
            </a:r>
            <a:endParaRPr lang="en-US" sz="680" dirty="0"/>
          </a:p>
        </p:txBody>
      </p:sp>
      <p:sp>
        <p:nvSpPr>
          <p:cNvPr id="12" name="Shape 10"/>
          <p:cNvSpPr/>
          <p:nvPr/>
        </p:nvSpPr>
        <p:spPr>
          <a:xfrm>
            <a:off x="5202936" y="1234440"/>
            <a:ext cx="196596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5202936" y="1234440"/>
            <a:ext cx="54864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5404104" y="1463040"/>
            <a:ext cx="15361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</a:rPr>
              <a:t>Lokalizacje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04104" y="1920240"/>
            <a:ext cx="153619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475569"/>
                </a:solidFill>
              </a:rPr>
              <a:t>odwzorowanie magazynu</a:t>
            </a:r>
            <a:endParaRPr lang="en-US" sz="680" dirty="0"/>
          </a:p>
        </p:txBody>
      </p:sp>
      <p:sp>
        <p:nvSpPr>
          <p:cNvPr id="16" name="Shape 14"/>
          <p:cNvSpPr/>
          <p:nvPr/>
        </p:nvSpPr>
        <p:spPr>
          <a:xfrm>
            <a:off x="7461504" y="1234440"/>
            <a:ext cx="196596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7461504" y="1234440"/>
            <a:ext cx="54864" cy="12801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662672" y="1463040"/>
            <a:ext cx="15361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</a:rPr>
              <a:t>Stany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662672" y="1920240"/>
            <a:ext cx="153619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475569"/>
                </a:solidFill>
              </a:rPr>
              <a:t>zapas wg lokalizacji i statusu</a:t>
            </a:r>
            <a:endParaRPr lang="en-US" sz="680" dirty="0"/>
          </a:p>
        </p:txBody>
      </p:sp>
      <p:sp>
        <p:nvSpPr>
          <p:cNvPr id="20" name="Shape 18"/>
          <p:cNvSpPr/>
          <p:nvPr/>
        </p:nvSpPr>
        <p:spPr>
          <a:xfrm>
            <a:off x="9720072" y="1234440"/>
            <a:ext cx="196596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9720072" y="1234440"/>
            <a:ext cx="54864" cy="1280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9921240" y="1463040"/>
            <a:ext cx="15361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</a:rPr>
              <a:t>Dokumenty PZ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921240" y="1920240"/>
            <a:ext cx="153619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475569"/>
                </a:solidFill>
              </a:rPr>
              <a:t>przyjęcia towaru</a:t>
            </a:r>
            <a:endParaRPr lang="en-US" sz="680" dirty="0"/>
          </a:p>
        </p:txBody>
      </p:sp>
      <p:sp>
        <p:nvSpPr>
          <p:cNvPr id="24" name="Shape 22"/>
          <p:cNvSpPr/>
          <p:nvPr/>
        </p:nvSpPr>
        <p:spPr>
          <a:xfrm>
            <a:off x="685800" y="3108960"/>
            <a:ext cx="196596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685800" y="3108960"/>
            <a:ext cx="54864" cy="12801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886968" y="3337560"/>
            <a:ext cx="15361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</a:rPr>
              <a:t>Dokumenty MM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86968" y="3794760"/>
            <a:ext cx="153619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475569"/>
                </a:solidFill>
              </a:rPr>
              <a:t>przesunięcia magazynowe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2944368" y="3108960"/>
            <a:ext cx="196596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2944368" y="3108960"/>
            <a:ext cx="54864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3145536" y="3337560"/>
            <a:ext cx="15361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</a:rPr>
              <a:t>Dokumenty RW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145536" y="3794760"/>
            <a:ext cx="153619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475569"/>
                </a:solidFill>
              </a:rPr>
              <a:t>wydania towaru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5202936" y="3108960"/>
            <a:ext cx="196596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5202936" y="3108960"/>
            <a:ext cx="54864" cy="12801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5404104" y="3337560"/>
            <a:ext cx="15361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</a:rPr>
              <a:t>Zadania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404104" y="3794760"/>
            <a:ext cx="153619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475569"/>
                </a:solidFill>
              </a:rPr>
              <a:t>praca przypisana do magazyniera</a:t>
            </a:r>
            <a:endParaRPr lang="en-US" sz="680" dirty="0"/>
          </a:p>
        </p:txBody>
      </p:sp>
      <p:sp>
        <p:nvSpPr>
          <p:cNvPr id="36" name="Shape 34"/>
          <p:cNvSpPr/>
          <p:nvPr/>
        </p:nvSpPr>
        <p:spPr>
          <a:xfrm>
            <a:off x="7461504" y="3108960"/>
            <a:ext cx="196596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7461504" y="3108960"/>
            <a:ext cx="54864" cy="1280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7662672" y="3337560"/>
            <a:ext cx="15361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</a:rPr>
              <a:t>Raporty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662672" y="3794760"/>
            <a:ext cx="153619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475569"/>
                </a:solidFill>
              </a:rPr>
              <a:t>stany, ruchy, realizacja zadań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9720072" y="3108960"/>
            <a:ext cx="196596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9720072" y="3108960"/>
            <a:ext cx="54864" cy="12801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9921240" y="3337560"/>
            <a:ext cx="15361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</a:rPr>
              <a:t>Eksport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9921240" y="3794760"/>
            <a:ext cx="153619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475569"/>
                </a:solidFill>
              </a:rPr>
              <a:t>CSV / XLSX</a:t>
            </a:r>
            <a:endParaRPr lang="en-US" sz="680" dirty="0"/>
          </a:p>
        </p:txBody>
      </p:sp>
      <p:sp>
        <p:nvSpPr>
          <p:cNvPr id="44" name="Text 42"/>
          <p:cNvSpPr/>
          <p:nvPr/>
        </p:nvSpPr>
        <p:spPr>
          <a:xfrm>
            <a:off x="1737360" y="5394960"/>
            <a:ext cx="8778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Klient nie dostaje tylko panelu — dostaje kompletny przepływ operacyjny.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320040" y="6629400"/>
            <a:ext cx="4114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CBD5E1"/>
                </a:solidFill>
              </a:rPr>
              <a:t>WMS • projekt magazynowy • GitHub</a:t>
            </a:r>
            <a:endParaRPr lang="en-US" sz="550" dirty="0"/>
          </a:p>
        </p:txBody>
      </p:sp>
      <p:sp>
        <p:nvSpPr>
          <p:cNvPr id="47" name="Text 45"/>
          <p:cNvSpPr/>
          <p:nvPr/>
        </p:nvSpPr>
        <p:spPr>
          <a:xfrm>
            <a:off x="11612880" y="6629400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Role i uprawnienia w systemie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Repozytorium opisuje konta demo: ADMIN, MANAGER, FOREMAN i WORKER oraz testy blokad dostępu.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777240" y="1508760"/>
            <a:ext cx="2331720" cy="33375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170432" y="1847088"/>
            <a:ext cx="1554480" cy="530352"/>
          </a:xfrm>
          <a:prstGeom prst="roundRect">
            <a:avLst>
              <a:gd name="adj" fmla="val 1379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170432" y="2029968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ADMIN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" y="274320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</a:rPr>
              <a:t>pełny dostęp do obszarów testowych, konfiguracja i użytkownicy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947672" y="2542032"/>
            <a:ext cx="0" cy="411480"/>
          </a:xfrm>
          <a:prstGeom prst="line">
            <a:avLst/>
          </a:prstGeom>
          <a:noFill/>
          <a:ln w="1651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3566160" y="1508760"/>
            <a:ext cx="2331720" cy="33375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3959352" y="1847088"/>
            <a:ext cx="1554480" cy="530352"/>
          </a:xfrm>
          <a:prstGeom prst="roundRect">
            <a:avLst>
              <a:gd name="adj" fmla="val 13793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3959352" y="2029968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MANAGER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86200" y="274320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</a:rPr>
              <a:t>nadzór nad procesem, raporty i operacje kierownicze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736592" y="2542032"/>
            <a:ext cx="0" cy="411480"/>
          </a:xfrm>
          <a:prstGeom prst="line">
            <a:avLst/>
          </a:prstGeom>
          <a:noFill/>
          <a:ln w="16510">
            <a:solidFill>
              <a:srgbClr val="4F46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355080" y="1508760"/>
            <a:ext cx="2331720" cy="33375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6748272" y="1847088"/>
            <a:ext cx="1554480" cy="530352"/>
          </a:xfrm>
          <a:prstGeom prst="roundRect">
            <a:avLst>
              <a:gd name="adj" fmla="val 1379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6748272" y="2029968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FOREMAN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675120" y="274320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</a:rPr>
              <a:t>nadzór operacyjny; blokada dostępu do users w testach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525512" y="2542032"/>
            <a:ext cx="0" cy="411480"/>
          </a:xfrm>
          <a:prstGeom prst="line">
            <a:avLst/>
          </a:prstGeom>
          <a:noFill/>
          <a:ln w="1651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9144000" y="1508760"/>
            <a:ext cx="2331720" cy="33375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9537192" y="1847088"/>
            <a:ext cx="1554480" cy="530352"/>
          </a:xfrm>
          <a:prstGeom prst="roundRect">
            <a:avLst>
              <a:gd name="adj" fmla="val 1379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9537192" y="2029968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WORKER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464040" y="274320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</a:rPr>
              <a:t>zadania operacyjne; blokady inventory/users/audit-log w testach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0314432" y="2542032"/>
            <a:ext cx="0" cy="411480"/>
          </a:xfrm>
          <a:prstGeom prst="line">
            <a:avLst/>
          </a:prstGeom>
          <a:noFill/>
          <a:ln w="1651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1188720" y="5440680"/>
            <a:ext cx="9784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</a:rPr>
              <a:t>Kontrolowane uprawnienia → mniej przypadkowych błędów → jasna odpowiedzialność za proces.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320040" y="6629400"/>
            <a:ext cx="4114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CBD5E1"/>
                </a:solidFill>
              </a:rPr>
              <a:t>WMS • projekt magazynowy • GitHub</a:t>
            </a:r>
            <a:endParaRPr lang="en-US" sz="550" dirty="0"/>
          </a:p>
        </p:txBody>
      </p:sp>
      <p:sp>
        <p:nvSpPr>
          <p:cNvPr id="27" name="Text 25"/>
          <p:cNvSpPr/>
          <p:nvPr/>
        </p:nvSpPr>
        <p:spPr>
          <a:xfrm>
            <a:off x="11612880" y="6629400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Proces działania WMS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Od konfiguracji i dokumentu magazynowego do wykonania na telefonie oraz raportu.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1828800" cy="2148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188720" y="1755648"/>
            <a:ext cx="822960" cy="8229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188720" y="2011680"/>
            <a:ext cx="822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7889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</a:rPr>
              <a:t>Konfiguracja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309067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475569"/>
                </a:solidFill>
              </a:rPr>
              <a:t>użytkownicy</a:t>
            </a:r>
            <a:endParaRPr lang="en-US" sz="720" dirty="0"/>
          </a:p>
          <a:p>
            <a:pPr marL="0" indent="0" algn="ctr">
              <a:buNone/>
            </a:pPr>
            <a:r>
              <a:rPr lang="en-US" sz="720" dirty="0">
                <a:solidFill>
                  <a:srgbClr val="475569"/>
                </a:solidFill>
              </a:rPr>
              <a:t>produkty</a:t>
            </a:r>
            <a:endParaRPr lang="en-US" sz="720" dirty="0"/>
          </a:p>
          <a:p>
            <a:pPr marL="0" indent="0" algn="ctr">
              <a:buNone/>
            </a:pPr>
            <a:r>
              <a:rPr lang="en-US" sz="720" dirty="0">
                <a:solidFill>
                  <a:srgbClr val="475569"/>
                </a:solidFill>
              </a:rPr>
              <a:t>lokalizacje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2514600" y="2514600"/>
            <a:ext cx="438912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2953512" y="1508760"/>
            <a:ext cx="1828800" cy="2148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3456432" y="1755648"/>
            <a:ext cx="822960" cy="8229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456432" y="2011680"/>
            <a:ext cx="822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136392" y="27889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</a:rPr>
              <a:t>Dokument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36392" y="309067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475569"/>
                </a:solidFill>
              </a:rPr>
              <a:t>PZ / MM / RW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4782312" y="2514600"/>
            <a:ext cx="438912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5221224" y="1508760"/>
            <a:ext cx="1828800" cy="2148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5724144" y="1755648"/>
            <a:ext cx="822960" cy="8229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724144" y="2011680"/>
            <a:ext cx="822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04104" y="27889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</a:rPr>
              <a:t>Zadanie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04104" y="309067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475569"/>
                </a:solidFill>
              </a:rPr>
              <a:t>przypisanie</a:t>
            </a:r>
            <a:endParaRPr lang="en-US" sz="720" dirty="0"/>
          </a:p>
          <a:p>
            <a:pPr marL="0" indent="0" algn="ctr">
              <a:buNone/>
            </a:pPr>
            <a:r>
              <a:rPr lang="en-US" sz="720" dirty="0">
                <a:solidFill>
                  <a:srgbClr val="475569"/>
                </a:solidFill>
              </a:rPr>
              <a:t>do pracownika</a:t>
            </a:r>
            <a:endParaRPr lang="en-US" sz="720" dirty="0"/>
          </a:p>
        </p:txBody>
      </p:sp>
      <p:sp>
        <p:nvSpPr>
          <p:cNvPr id="21" name="Shape 19"/>
          <p:cNvSpPr/>
          <p:nvPr/>
        </p:nvSpPr>
        <p:spPr>
          <a:xfrm>
            <a:off x="7050024" y="2514600"/>
            <a:ext cx="438912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7488936" y="1508760"/>
            <a:ext cx="1828800" cy="2148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7991856" y="1755648"/>
            <a:ext cx="822960" cy="8229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7991856" y="2011680"/>
            <a:ext cx="822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671816" y="27889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</a:rPr>
              <a:t>Mobile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671816" y="309067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475569"/>
                </a:solidFill>
              </a:rPr>
              <a:t>Start / Zakończ</a:t>
            </a:r>
            <a:endParaRPr lang="en-US" sz="720" dirty="0"/>
          </a:p>
          <a:p>
            <a:pPr marL="0" indent="0" algn="ctr">
              <a:buNone/>
            </a:pPr>
            <a:r>
              <a:rPr lang="en-US" sz="720" dirty="0">
                <a:solidFill>
                  <a:srgbClr val="475569"/>
                </a:solidFill>
              </a:rPr>
              <a:t>operację</a:t>
            </a:r>
            <a:endParaRPr lang="en-US" sz="720" dirty="0"/>
          </a:p>
        </p:txBody>
      </p:sp>
      <p:sp>
        <p:nvSpPr>
          <p:cNvPr id="27" name="Shape 25"/>
          <p:cNvSpPr/>
          <p:nvPr/>
        </p:nvSpPr>
        <p:spPr>
          <a:xfrm>
            <a:off x="9317736" y="2514600"/>
            <a:ext cx="438912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9756648" y="1508760"/>
            <a:ext cx="1828800" cy="2148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10259568" y="1755648"/>
            <a:ext cx="822960" cy="822960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10259568" y="2011680"/>
            <a:ext cx="822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939528" y="27889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</a:rPr>
              <a:t>System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939528" y="309067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475569"/>
                </a:solidFill>
              </a:rPr>
              <a:t>stany</a:t>
            </a:r>
            <a:endParaRPr lang="en-US" sz="720" dirty="0"/>
          </a:p>
          <a:p>
            <a:pPr marL="0" indent="0" algn="ctr">
              <a:buNone/>
            </a:pPr>
            <a:r>
              <a:rPr lang="en-US" sz="720" dirty="0">
                <a:solidFill>
                  <a:srgbClr val="475569"/>
                </a:solidFill>
              </a:rPr>
              <a:t>historia</a:t>
            </a:r>
            <a:endParaRPr lang="en-US" sz="720" dirty="0"/>
          </a:p>
          <a:p>
            <a:pPr marL="0" indent="0" algn="ctr">
              <a:buNone/>
            </a:pPr>
            <a:r>
              <a:rPr lang="en-US" sz="720" dirty="0">
                <a:solidFill>
                  <a:srgbClr val="475569"/>
                </a:solidFill>
              </a:rPr>
              <a:t>raporty</a:t>
            </a:r>
            <a:endParaRPr lang="en-US" sz="720" dirty="0"/>
          </a:p>
        </p:txBody>
      </p:sp>
      <p:sp>
        <p:nvSpPr>
          <p:cNvPr id="33" name="Shape 31"/>
          <p:cNvSpPr/>
          <p:nvPr/>
        </p:nvSpPr>
        <p:spPr>
          <a:xfrm>
            <a:off x="1234440" y="4572000"/>
            <a:ext cx="9738360" cy="658368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1508760" y="4782312"/>
            <a:ext cx="9189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Operacja wykonana na telefonie aktualizuje centralny system: zadania, stany, historię ruchów i raporty.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320040" y="6629400"/>
            <a:ext cx="4114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CBD5E1"/>
                </a:solidFill>
              </a:rPr>
              <a:t>WMS • projekt magazynowy • GitHub</a:t>
            </a:r>
            <a:endParaRPr lang="en-US" sz="550" dirty="0"/>
          </a:p>
        </p:txBody>
      </p:sp>
      <p:sp>
        <p:nvSpPr>
          <p:cNvPr id="37" name="Text 35"/>
          <p:cNvSpPr/>
          <p:nvPr/>
        </p:nvSpPr>
        <p:spPr>
          <a:xfrm>
            <a:off x="11612880" y="6629400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Testy: jeden scenariusz potwierdzający gotowość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Raport GO/NO-GO obejmuje smoke E2E, UAT PZ/MM/RW oraz testy ról i uprawnień.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5577840" cy="4434840"/>
          </a:xfrm>
          <a:prstGeom prst="roundRect">
            <a:avLst>
              <a:gd name="adj" fmla="val 123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0120" y="141732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SCENARIUSZ TESTOWY — UAT / E2E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60120" y="1828800"/>
            <a:ext cx="4983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Backend health: OK (/api/health)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API scenariusze bazowe: 18 OK / 0 FAIL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UAT: 10 OK / 0 FAIL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PZ: create -&gt; start -&gt; complete: OK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MM: create -&gt; confirm: OK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RW: blokada przy braku stanu: OK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Role: ADMIN / FOREMAN / WORKER: OK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Decyzja: GO warunkowe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629400" y="1371600"/>
            <a:ext cx="150876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629400" y="1499616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B981"/>
                </a:solidFill>
              </a:rPr>
              <a:t>18 / 0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702552" y="1947672"/>
            <a:ext cx="1362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70" dirty="0">
                <a:solidFill>
                  <a:srgbClr val="475569"/>
                </a:solidFill>
              </a:rPr>
              <a:t>API scenariusze bazowe OK / FAIL</a:t>
            </a:r>
            <a:endParaRPr lang="en-US" sz="570" dirty="0"/>
          </a:p>
        </p:txBody>
      </p:sp>
      <p:sp>
        <p:nvSpPr>
          <p:cNvPr id="10" name="Shape 8"/>
          <p:cNvSpPr/>
          <p:nvPr/>
        </p:nvSpPr>
        <p:spPr>
          <a:xfrm>
            <a:off x="8321040" y="1371600"/>
            <a:ext cx="150876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321040" y="1499616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B981"/>
                </a:solidFill>
              </a:rPr>
              <a:t>10 / 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394192" y="1947672"/>
            <a:ext cx="1362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70" dirty="0">
                <a:solidFill>
                  <a:srgbClr val="475569"/>
                </a:solidFill>
              </a:rPr>
              <a:t>Scenariusze UAT OK / FAIL</a:t>
            </a:r>
            <a:endParaRPr lang="en-US" sz="570" dirty="0"/>
          </a:p>
        </p:txBody>
      </p:sp>
      <p:sp>
        <p:nvSpPr>
          <p:cNvPr id="13" name="Shape 11"/>
          <p:cNvSpPr/>
          <p:nvPr/>
        </p:nvSpPr>
        <p:spPr>
          <a:xfrm>
            <a:off x="10012680" y="1371600"/>
            <a:ext cx="150876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10012680" y="1499616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B981"/>
                </a:solidFill>
              </a:rPr>
              <a:t>0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85832" y="1947672"/>
            <a:ext cx="1362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70" dirty="0">
                <a:solidFill>
                  <a:srgbClr val="475569"/>
                </a:solidFill>
              </a:rPr>
              <a:t>krytycznych błędów blokujących</a:t>
            </a:r>
            <a:endParaRPr lang="en-US" sz="570" dirty="0"/>
          </a:p>
        </p:txBody>
      </p:sp>
      <p:sp>
        <p:nvSpPr>
          <p:cNvPr id="16" name="Shape 14"/>
          <p:cNvSpPr/>
          <p:nvPr/>
        </p:nvSpPr>
        <p:spPr>
          <a:xfrm>
            <a:off x="6629400" y="2880360"/>
            <a:ext cx="48920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903720" y="3063240"/>
            <a:ext cx="434340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11827"/>
                </a:solidFill>
              </a:rPr>
              <a:t>• pełne przejście zakładek bez błędów JS/API 4xx/5xx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111827"/>
                </a:solidFill>
              </a:rPr>
              <a:t>• worker Flutter: uruchomienie, połączenie z API i testy OK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111827"/>
                </a:solidFill>
              </a:rPr>
              <a:t>• separacja uprawnień działa dla ról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6629400" y="4389120"/>
            <a:ext cx="4892040" cy="749808"/>
          </a:xfrm>
          <a:prstGeom prst="roundRect">
            <a:avLst>
              <a:gd name="adj" fmla="val 731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903720" y="4663440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111827"/>
                </a:solidFill>
              </a:rPr>
              <a:t>Wniosek: system można bezpiecznie pokazać klientowi i uruchomić jako pilotaż.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320040" y="6629400"/>
            <a:ext cx="4114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CBD5E1"/>
                </a:solidFill>
              </a:rPr>
              <a:t>WMS • projekt magazynowy • GitHub</a:t>
            </a:r>
            <a:endParaRPr lang="en-US" sz="550" dirty="0"/>
          </a:p>
        </p:txBody>
      </p:sp>
      <p:sp>
        <p:nvSpPr>
          <p:cNvPr id="22" name="Text 20"/>
          <p:cNvSpPr/>
          <p:nvPr/>
        </p:nvSpPr>
        <p:spPr>
          <a:xfrm>
            <a:off x="11612880" y="6629400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Wydajność po tuningu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Benchmark po tuningu: kryterium 0% błędów i P95 poniżej 2000 ms spełnione do 25 równoległych użytkowników.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685800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0120" y="14173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75569"/>
                </a:solidFill>
              </a:rPr>
              <a:t>P95 czas odpowiedzi [ms]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005840" y="4450458"/>
            <a:ext cx="347472" cy="37757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60120" y="4983480"/>
            <a:ext cx="457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475569"/>
                </a:solidFill>
              </a:rPr>
              <a:t>10</a:t>
            </a:r>
            <a:endParaRPr lang="en-US" sz="550" dirty="0"/>
          </a:p>
        </p:txBody>
      </p:sp>
      <p:sp>
        <p:nvSpPr>
          <p:cNvPr id="8" name="Shape 6"/>
          <p:cNvSpPr/>
          <p:nvPr/>
        </p:nvSpPr>
        <p:spPr>
          <a:xfrm>
            <a:off x="1664208" y="3698882"/>
            <a:ext cx="347472" cy="112915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618488" y="4983480"/>
            <a:ext cx="457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475569"/>
                </a:solidFill>
              </a:rPr>
              <a:t>15</a:t>
            </a:r>
            <a:endParaRPr lang="en-US" sz="550" dirty="0"/>
          </a:p>
        </p:txBody>
      </p:sp>
      <p:sp>
        <p:nvSpPr>
          <p:cNvPr id="10" name="Shape 8"/>
          <p:cNvSpPr/>
          <p:nvPr/>
        </p:nvSpPr>
        <p:spPr>
          <a:xfrm>
            <a:off x="2322576" y="3911650"/>
            <a:ext cx="347472" cy="91638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2276856" y="4983480"/>
            <a:ext cx="457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475569"/>
                </a:solidFill>
              </a:rPr>
              <a:t>20</a:t>
            </a:r>
            <a:endParaRPr lang="en-US" sz="550" dirty="0"/>
          </a:p>
        </p:txBody>
      </p:sp>
      <p:sp>
        <p:nvSpPr>
          <p:cNvPr id="12" name="Shape 10"/>
          <p:cNvSpPr/>
          <p:nvPr/>
        </p:nvSpPr>
        <p:spPr>
          <a:xfrm>
            <a:off x="2980944" y="3006832"/>
            <a:ext cx="347472" cy="1821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2935224" y="4983480"/>
            <a:ext cx="457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475569"/>
                </a:solidFill>
              </a:rPr>
              <a:t>25</a:t>
            </a:r>
            <a:endParaRPr lang="en-US" sz="550" dirty="0"/>
          </a:p>
        </p:txBody>
      </p:sp>
      <p:sp>
        <p:nvSpPr>
          <p:cNvPr id="14" name="Shape 12"/>
          <p:cNvSpPr/>
          <p:nvPr/>
        </p:nvSpPr>
        <p:spPr>
          <a:xfrm>
            <a:off x="3639312" y="2152585"/>
            <a:ext cx="347472" cy="2675447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3593592" y="4983480"/>
            <a:ext cx="457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475569"/>
                </a:solidFill>
              </a:rPr>
              <a:t>30</a:t>
            </a:r>
            <a:endParaRPr lang="en-US" sz="550" dirty="0"/>
          </a:p>
        </p:txBody>
      </p:sp>
      <p:sp>
        <p:nvSpPr>
          <p:cNvPr id="16" name="Shape 14"/>
          <p:cNvSpPr/>
          <p:nvPr/>
        </p:nvSpPr>
        <p:spPr>
          <a:xfrm>
            <a:off x="4297680" y="2244371"/>
            <a:ext cx="347472" cy="2583661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251960" y="4983480"/>
            <a:ext cx="457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475569"/>
                </a:solidFill>
              </a:rPr>
              <a:t>35</a:t>
            </a:r>
            <a:endParaRPr lang="en-US" sz="550" dirty="0"/>
          </a:p>
        </p:txBody>
      </p:sp>
      <p:sp>
        <p:nvSpPr>
          <p:cNvPr id="18" name="Shape 16"/>
          <p:cNvSpPr/>
          <p:nvPr/>
        </p:nvSpPr>
        <p:spPr>
          <a:xfrm>
            <a:off x="4956048" y="3091588"/>
            <a:ext cx="347472" cy="17364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4910328" y="4983480"/>
            <a:ext cx="457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475569"/>
                </a:solidFill>
              </a:rPr>
              <a:t>40</a:t>
            </a:r>
            <a:endParaRPr lang="en-US" sz="550" dirty="0"/>
          </a:p>
        </p:txBody>
      </p:sp>
      <p:sp>
        <p:nvSpPr>
          <p:cNvPr id="20" name="Shape 18"/>
          <p:cNvSpPr/>
          <p:nvPr/>
        </p:nvSpPr>
        <p:spPr>
          <a:xfrm>
            <a:off x="5614416" y="3087109"/>
            <a:ext cx="347472" cy="1740923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5568696" y="4983480"/>
            <a:ext cx="457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475569"/>
                </a:solidFill>
              </a:rPr>
              <a:t>45</a:t>
            </a:r>
            <a:endParaRPr lang="en-US" sz="550" dirty="0"/>
          </a:p>
        </p:txBody>
      </p:sp>
      <p:sp>
        <p:nvSpPr>
          <p:cNvPr id="22" name="Shape 20"/>
          <p:cNvSpPr/>
          <p:nvPr/>
        </p:nvSpPr>
        <p:spPr>
          <a:xfrm>
            <a:off x="6272784" y="3206958"/>
            <a:ext cx="347472" cy="162107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227064" y="4983480"/>
            <a:ext cx="457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475569"/>
                </a:solidFill>
              </a:rPr>
              <a:t>50</a:t>
            </a:r>
            <a:endParaRPr lang="en-US" sz="550" dirty="0"/>
          </a:p>
        </p:txBody>
      </p:sp>
      <p:sp>
        <p:nvSpPr>
          <p:cNvPr id="24" name="Text 22"/>
          <p:cNvSpPr/>
          <p:nvPr/>
        </p:nvSpPr>
        <p:spPr>
          <a:xfrm>
            <a:off x="2743200" y="5257800"/>
            <a:ext cx="2103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475569"/>
                </a:solidFill>
              </a:rPr>
              <a:t>użytkownicy równolegli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7909560" y="1143000"/>
            <a:ext cx="352044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8183880" y="1389888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</a:rPr>
              <a:t>Kryterium akceptacji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183880" y="170078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</a:rPr>
              <a:t>Error rate = 0%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</a:rPr>
              <a:t>P95 ≤ 2000 ms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909560" y="2514600"/>
            <a:ext cx="3520440" cy="1005840"/>
          </a:xfrm>
          <a:prstGeom prst="roundRect">
            <a:avLst>
              <a:gd name="adj" fmla="val 5455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8183880" y="2761488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</a:rPr>
              <a:t>Wynik po tuningu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183880" y="307238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</a:rPr>
              <a:t>0% błędów do 25 użytkowników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</a:rPr>
              <a:t>P95: 321,24 ms przy 25 userach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909560" y="3886200"/>
            <a:ext cx="3520440" cy="1005840"/>
          </a:xfrm>
          <a:prstGeom prst="roundRect">
            <a:avLst>
              <a:gd name="adj" fmla="val 5455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8183880" y="4133088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</a:rPr>
              <a:t>Plan skalowania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183880" y="444398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</a:rPr>
              <a:t>powyżej 25 userów rośnie odsetek błędów — temat na rozwój infrastruktury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320040" y="6629400"/>
            <a:ext cx="4114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CBD5E1"/>
                </a:solidFill>
              </a:rPr>
              <a:t>WMS • projekt magazynowy • GitHub</a:t>
            </a:r>
            <a:endParaRPr lang="en-US" sz="550" dirty="0"/>
          </a:p>
        </p:txBody>
      </p:sp>
      <p:sp>
        <p:nvSpPr>
          <p:cNvPr id="36" name="Text 34"/>
          <p:cNvSpPr/>
          <p:nvPr/>
        </p:nvSpPr>
        <p:spPr>
          <a:xfrm>
            <a:off x="11612880" y="6629400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Porównanie z konkurencją / alternatywami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Bez nazw marek — porównanie na podstawie funkcji dostępnych w projekcie i typowego podejścia arkuszowego.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2194560" cy="475488"/>
          </a:xfrm>
          <a:prstGeom prst="rect">
            <a:avLst/>
          </a:prstGeom>
          <a:solidFill>
            <a:srgbClr val="0F172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84632" y="1307592"/>
            <a:ext cx="20482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</a:rPr>
              <a:t>Obszar</a:t>
            </a:r>
            <a:endParaRPr lang="en-US" sz="780" dirty="0"/>
          </a:p>
        </p:txBody>
      </p:sp>
      <p:sp>
        <p:nvSpPr>
          <p:cNvPr id="6" name="Shape 4"/>
          <p:cNvSpPr/>
          <p:nvPr/>
        </p:nvSpPr>
        <p:spPr>
          <a:xfrm>
            <a:off x="2606040" y="1143000"/>
            <a:ext cx="2423160" cy="475488"/>
          </a:xfrm>
          <a:prstGeom prst="rect">
            <a:avLst/>
          </a:prstGeom>
          <a:solidFill>
            <a:srgbClr val="0F172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2679192" y="1307592"/>
            <a:ext cx="22768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</a:rPr>
              <a:t>Nasz WMS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5029200" y="1143000"/>
            <a:ext cx="3017520" cy="475488"/>
          </a:xfrm>
          <a:prstGeom prst="rect">
            <a:avLst/>
          </a:prstGeom>
          <a:solidFill>
            <a:srgbClr val="0F172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102352" y="1307592"/>
            <a:ext cx="2871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</a:rPr>
              <a:t>Arkusze / ręczne procesy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8046720" y="1143000"/>
            <a:ext cx="3291840" cy="475488"/>
          </a:xfrm>
          <a:prstGeom prst="rect">
            <a:avLst/>
          </a:prstGeom>
          <a:solidFill>
            <a:srgbClr val="0F172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119872" y="1307592"/>
            <a:ext cx="3145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</a:rPr>
              <a:t>Klasyczny rozbudowany WMS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411480" y="1618488"/>
            <a:ext cx="21945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84632" y="1783080"/>
            <a:ext cx="20482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111827"/>
                </a:solidFill>
              </a:rPr>
              <a:t>Web + mobile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2606040" y="1618488"/>
            <a:ext cx="2423160" cy="530352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2679192" y="1783080"/>
            <a:ext cx="22768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111827"/>
                </a:solidFill>
              </a:rPr>
              <a:t>TAK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5029200" y="1618488"/>
            <a:ext cx="3017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5102352" y="1783080"/>
            <a:ext cx="2871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111827"/>
                </a:solidFill>
              </a:rPr>
              <a:t>często brak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8046720" y="1618488"/>
            <a:ext cx="32918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8119872" y="1783080"/>
            <a:ext cx="3145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111827"/>
                </a:solidFill>
              </a:rPr>
              <a:t>zależnie od pakietu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411480" y="2148840"/>
            <a:ext cx="21945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484632" y="2313432"/>
            <a:ext cx="20482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111827"/>
                </a:solidFill>
              </a:rPr>
              <a:t>Role i uprawnienia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2606040" y="2148840"/>
            <a:ext cx="2423160" cy="530352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2679192" y="2313432"/>
            <a:ext cx="22768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111827"/>
                </a:solidFill>
              </a:rPr>
              <a:t>ADMIN / MANAGER / FOREMAN / WORKER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5029200" y="2148840"/>
            <a:ext cx="3017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5102352" y="2313432"/>
            <a:ext cx="2871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111827"/>
                </a:solidFill>
              </a:rPr>
              <a:t>ograniczone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8046720" y="2148840"/>
            <a:ext cx="32918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8119872" y="2313432"/>
            <a:ext cx="3145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111827"/>
                </a:solidFill>
              </a:rPr>
              <a:t>TAK</a:t>
            </a:r>
            <a:endParaRPr lang="en-US" sz="720" dirty="0"/>
          </a:p>
        </p:txBody>
      </p:sp>
      <p:sp>
        <p:nvSpPr>
          <p:cNvPr id="28" name="Shape 26"/>
          <p:cNvSpPr/>
          <p:nvPr/>
        </p:nvSpPr>
        <p:spPr>
          <a:xfrm>
            <a:off x="411480" y="2679192"/>
            <a:ext cx="21945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484632" y="2843784"/>
            <a:ext cx="20482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111827"/>
                </a:solidFill>
              </a:rPr>
              <a:t>PZ / MM / RW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2606040" y="2679192"/>
            <a:ext cx="2423160" cy="530352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2679192" y="2843784"/>
            <a:ext cx="22768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111827"/>
                </a:solidFill>
              </a:rPr>
              <a:t>TAK</a:t>
            </a:r>
            <a:endParaRPr lang="en-US" sz="720" dirty="0"/>
          </a:p>
        </p:txBody>
      </p:sp>
      <p:sp>
        <p:nvSpPr>
          <p:cNvPr id="32" name="Shape 30"/>
          <p:cNvSpPr/>
          <p:nvPr/>
        </p:nvSpPr>
        <p:spPr>
          <a:xfrm>
            <a:off x="5029200" y="2679192"/>
            <a:ext cx="3017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5102352" y="2843784"/>
            <a:ext cx="2871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111827"/>
                </a:solidFill>
              </a:rPr>
              <a:t>ręcznie</a:t>
            </a:r>
            <a:endParaRPr lang="en-US" sz="720" dirty="0"/>
          </a:p>
        </p:txBody>
      </p:sp>
      <p:sp>
        <p:nvSpPr>
          <p:cNvPr id="34" name="Shape 32"/>
          <p:cNvSpPr/>
          <p:nvPr/>
        </p:nvSpPr>
        <p:spPr>
          <a:xfrm>
            <a:off x="8046720" y="2679192"/>
            <a:ext cx="32918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8119872" y="2843784"/>
            <a:ext cx="3145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111827"/>
                </a:solidFill>
              </a:rPr>
              <a:t>TAK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411480" y="3209544"/>
            <a:ext cx="21945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484632" y="3374136"/>
            <a:ext cx="20482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111827"/>
                </a:solidFill>
              </a:rPr>
              <a:t>Zadania dla magazyniera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2606040" y="3209544"/>
            <a:ext cx="2423160" cy="530352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2679192" y="3374136"/>
            <a:ext cx="22768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111827"/>
                </a:solidFill>
              </a:rPr>
              <a:t>TAK, web + mobile</a:t>
            </a:r>
            <a:endParaRPr lang="en-US" sz="720" dirty="0"/>
          </a:p>
        </p:txBody>
      </p:sp>
      <p:sp>
        <p:nvSpPr>
          <p:cNvPr id="40" name="Shape 38"/>
          <p:cNvSpPr/>
          <p:nvPr/>
        </p:nvSpPr>
        <p:spPr>
          <a:xfrm>
            <a:off x="5029200" y="3209544"/>
            <a:ext cx="3017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5102352" y="3374136"/>
            <a:ext cx="2871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111827"/>
                </a:solidFill>
              </a:rPr>
              <a:t>poza systemem</a:t>
            </a:r>
            <a:endParaRPr lang="en-US" sz="720" dirty="0"/>
          </a:p>
        </p:txBody>
      </p:sp>
      <p:sp>
        <p:nvSpPr>
          <p:cNvPr id="42" name="Shape 40"/>
          <p:cNvSpPr/>
          <p:nvPr/>
        </p:nvSpPr>
        <p:spPr>
          <a:xfrm>
            <a:off x="8046720" y="3209544"/>
            <a:ext cx="32918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8119872" y="3374136"/>
            <a:ext cx="3145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111827"/>
                </a:solidFill>
              </a:rPr>
              <a:t>TAK</a:t>
            </a:r>
            <a:endParaRPr lang="en-US" sz="720" dirty="0"/>
          </a:p>
        </p:txBody>
      </p:sp>
      <p:sp>
        <p:nvSpPr>
          <p:cNvPr id="44" name="Shape 42"/>
          <p:cNvSpPr/>
          <p:nvPr/>
        </p:nvSpPr>
        <p:spPr>
          <a:xfrm>
            <a:off x="411480" y="3739896"/>
            <a:ext cx="21945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484632" y="3904488"/>
            <a:ext cx="20482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111827"/>
                </a:solidFill>
              </a:rPr>
              <a:t>Raporty i eksport</a:t>
            </a:r>
            <a:endParaRPr lang="en-US" sz="720" dirty="0"/>
          </a:p>
        </p:txBody>
      </p:sp>
      <p:sp>
        <p:nvSpPr>
          <p:cNvPr id="46" name="Shape 44"/>
          <p:cNvSpPr/>
          <p:nvPr/>
        </p:nvSpPr>
        <p:spPr>
          <a:xfrm>
            <a:off x="2606040" y="3739896"/>
            <a:ext cx="2423160" cy="530352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2679192" y="3904488"/>
            <a:ext cx="22768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111827"/>
                </a:solidFill>
              </a:rPr>
              <a:t>CSV / XLSX</a:t>
            </a:r>
            <a:endParaRPr lang="en-US" sz="720" dirty="0"/>
          </a:p>
        </p:txBody>
      </p:sp>
      <p:sp>
        <p:nvSpPr>
          <p:cNvPr id="48" name="Shape 46"/>
          <p:cNvSpPr/>
          <p:nvPr/>
        </p:nvSpPr>
        <p:spPr>
          <a:xfrm>
            <a:off x="5029200" y="3739896"/>
            <a:ext cx="3017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5102352" y="3904488"/>
            <a:ext cx="2871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111827"/>
                </a:solidFill>
              </a:rPr>
              <a:t>ręczne zestawienia</a:t>
            </a:r>
            <a:endParaRPr lang="en-US" sz="720" dirty="0"/>
          </a:p>
        </p:txBody>
      </p:sp>
      <p:sp>
        <p:nvSpPr>
          <p:cNvPr id="50" name="Shape 48"/>
          <p:cNvSpPr/>
          <p:nvPr/>
        </p:nvSpPr>
        <p:spPr>
          <a:xfrm>
            <a:off x="8046720" y="3739896"/>
            <a:ext cx="32918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9"/>
          <p:cNvSpPr/>
          <p:nvPr/>
        </p:nvSpPr>
        <p:spPr>
          <a:xfrm>
            <a:off x="8119872" y="3904488"/>
            <a:ext cx="3145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111827"/>
                </a:solidFill>
              </a:rPr>
              <a:t>TAK</a:t>
            </a:r>
            <a:endParaRPr lang="en-US" sz="720" dirty="0"/>
          </a:p>
        </p:txBody>
      </p:sp>
      <p:sp>
        <p:nvSpPr>
          <p:cNvPr id="52" name="Shape 50"/>
          <p:cNvSpPr/>
          <p:nvPr/>
        </p:nvSpPr>
        <p:spPr>
          <a:xfrm>
            <a:off x="411480" y="4270248"/>
            <a:ext cx="21945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/>
          <p:nvPr/>
        </p:nvSpPr>
        <p:spPr>
          <a:xfrm>
            <a:off x="484632" y="4434840"/>
            <a:ext cx="20482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111827"/>
                </a:solidFill>
              </a:rPr>
              <a:t>Pilotaż</a:t>
            </a:r>
            <a:endParaRPr lang="en-US" sz="720" dirty="0"/>
          </a:p>
        </p:txBody>
      </p:sp>
      <p:sp>
        <p:nvSpPr>
          <p:cNvPr id="54" name="Shape 52"/>
          <p:cNvSpPr/>
          <p:nvPr/>
        </p:nvSpPr>
        <p:spPr>
          <a:xfrm>
            <a:off x="2606040" y="4270248"/>
            <a:ext cx="2423160" cy="530352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53"/>
          <p:cNvSpPr/>
          <p:nvPr/>
        </p:nvSpPr>
        <p:spPr>
          <a:xfrm>
            <a:off x="2679192" y="4434840"/>
            <a:ext cx="22768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111827"/>
                </a:solidFill>
              </a:rPr>
              <a:t>szybki na danych demo</a:t>
            </a:r>
            <a:endParaRPr lang="en-US" sz="720" dirty="0"/>
          </a:p>
        </p:txBody>
      </p:sp>
      <p:sp>
        <p:nvSpPr>
          <p:cNvPr id="56" name="Shape 54"/>
          <p:cNvSpPr/>
          <p:nvPr/>
        </p:nvSpPr>
        <p:spPr>
          <a:xfrm>
            <a:off x="5029200" y="4270248"/>
            <a:ext cx="3017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ext 55"/>
          <p:cNvSpPr/>
          <p:nvPr/>
        </p:nvSpPr>
        <p:spPr>
          <a:xfrm>
            <a:off x="5102352" y="4434840"/>
            <a:ext cx="2871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111827"/>
                </a:solidFill>
              </a:rPr>
              <a:t>brak spójnego procesu</a:t>
            </a:r>
            <a:endParaRPr lang="en-US" sz="720" dirty="0"/>
          </a:p>
        </p:txBody>
      </p:sp>
      <p:sp>
        <p:nvSpPr>
          <p:cNvPr id="58" name="Shape 56"/>
          <p:cNvSpPr/>
          <p:nvPr/>
        </p:nvSpPr>
        <p:spPr>
          <a:xfrm>
            <a:off x="8046720" y="4270248"/>
            <a:ext cx="32918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ext 57"/>
          <p:cNvSpPr/>
          <p:nvPr/>
        </p:nvSpPr>
        <p:spPr>
          <a:xfrm>
            <a:off x="8119872" y="4434840"/>
            <a:ext cx="3145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111827"/>
                </a:solidFill>
              </a:rPr>
              <a:t>często cięższe wdrożenie</a:t>
            </a:r>
            <a:endParaRPr lang="en-US" sz="720" dirty="0"/>
          </a:p>
        </p:txBody>
      </p:sp>
      <p:sp>
        <p:nvSpPr>
          <p:cNvPr id="60" name="Text 58"/>
          <p:cNvSpPr/>
          <p:nvPr/>
        </p:nvSpPr>
        <p:spPr>
          <a:xfrm>
            <a:off x="1005840" y="5669280"/>
            <a:ext cx="10241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</a:rPr>
              <a:t>Przekaz: system daje funkcje klasy WMS, ale można go pokazać i wdrożyć jako lekki pilotaż.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Text 60"/>
          <p:cNvSpPr/>
          <p:nvPr/>
        </p:nvSpPr>
        <p:spPr>
          <a:xfrm>
            <a:off x="320040" y="6629400"/>
            <a:ext cx="4114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CBD5E1"/>
                </a:solidFill>
              </a:rPr>
              <a:t>WMS • projekt magazynowy • GitHub</a:t>
            </a:r>
            <a:endParaRPr lang="en-US" sz="550" dirty="0"/>
          </a:p>
        </p:txBody>
      </p:sp>
      <p:sp>
        <p:nvSpPr>
          <p:cNvPr id="63" name="Text 61"/>
          <p:cNvSpPr/>
          <p:nvPr/>
        </p:nvSpPr>
        <p:spPr>
          <a:xfrm>
            <a:off x="11612880" y="6629400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Metodologia pracy zespołu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Repozytorium pokazuje modułowy podział pracy oraz osobne artefakty testowe i dokumentacyjne.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1874520" cy="201168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207008" y="1810512"/>
            <a:ext cx="640080" cy="640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207008" y="2011680"/>
            <a:ext cx="640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1600200" cy="21031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827"/>
                </a:solidFill>
              </a:rPr>
              <a:t>1. Podział modułów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58952" y="304495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30" dirty="0">
                <a:solidFill>
                  <a:srgbClr val="475569"/>
                </a:solidFill>
              </a:rPr>
              <a:t>backend / frontend / worker / testy</a:t>
            </a:r>
            <a:endParaRPr lang="en-US" sz="730" dirty="0"/>
          </a:p>
        </p:txBody>
      </p:sp>
      <p:sp>
        <p:nvSpPr>
          <p:cNvPr id="9" name="Shape 7"/>
          <p:cNvSpPr/>
          <p:nvPr/>
        </p:nvSpPr>
        <p:spPr>
          <a:xfrm>
            <a:off x="2468880" y="2514600"/>
            <a:ext cx="41148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2880360" y="1508760"/>
            <a:ext cx="1874520" cy="201168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3493008" y="1810512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493008" y="2011680"/>
            <a:ext cx="640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017520" y="2743200"/>
            <a:ext cx="1600200" cy="21031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827"/>
                </a:solidFill>
              </a:rPr>
              <a:t>2. Implementacja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044952" y="304495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30" dirty="0">
                <a:solidFill>
                  <a:srgbClr val="475569"/>
                </a:solidFill>
              </a:rPr>
              <a:t>funkcje operacyjne i API</a:t>
            </a:r>
            <a:endParaRPr lang="en-US" sz="730" dirty="0"/>
          </a:p>
        </p:txBody>
      </p:sp>
      <p:sp>
        <p:nvSpPr>
          <p:cNvPr id="15" name="Shape 13"/>
          <p:cNvSpPr/>
          <p:nvPr/>
        </p:nvSpPr>
        <p:spPr>
          <a:xfrm>
            <a:off x="4754880" y="2514600"/>
            <a:ext cx="41148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5166360" y="1508760"/>
            <a:ext cx="1874520" cy="201168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5779008" y="1810512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779008" y="2011680"/>
            <a:ext cx="640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03520" y="2743200"/>
            <a:ext cx="1600200" cy="21031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827"/>
                </a:solidFill>
              </a:rPr>
              <a:t>3. Integracja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330952" y="304495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30" dirty="0">
                <a:solidFill>
                  <a:srgbClr val="475569"/>
                </a:solidFill>
              </a:rPr>
              <a:t>web + mobile + backend</a:t>
            </a:r>
            <a:endParaRPr lang="en-US" sz="730" dirty="0"/>
          </a:p>
        </p:txBody>
      </p:sp>
      <p:sp>
        <p:nvSpPr>
          <p:cNvPr id="21" name="Shape 19"/>
          <p:cNvSpPr/>
          <p:nvPr/>
        </p:nvSpPr>
        <p:spPr>
          <a:xfrm>
            <a:off x="7040880" y="2514600"/>
            <a:ext cx="41148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7452360" y="1508760"/>
            <a:ext cx="1874520" cy="201168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8065008" y="1810512"/>
            <a:ext cx="640080" cy="6400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8065008" y="2011680"/>
            <a:ext cx="640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589520" y="2743200"/>
            <a:ext cx="1600200" cy="21031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827"/>
                </a:solidFill>
              </a:rPr>
              <a:t>4. Testy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616952" y="304495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30" dirty="0">
                <a:solidFill>
                  <a:srgbClr val="475569"/>
                </a:solidFill>
              </a:rPr>
              <a:t>E2E, UAT, role, benchmark</a:t>
            </a:r>
            <a:endParaRPr lang="en-US" sz="730" dirty="0"/>
          </a:p>
        </p:txBody>
      </p:sp>
      <p:sp>
        <p:nvSpPr>
          <p:cNvPr id="27" name="Shape 25"/>
          <p:cNvSpPr/>
          <p:nvPr/>
        </p:nvSpPr>
        <p:spPr>
          <a:xfrm>
            <a:off x="9326880" y="2514600"/>
            <a:ext cx="41148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9738360" y="1508760"/>
            <a:ext cx="1874520" cy="201168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10351008" y="1810512"/>
            <a:ext cx="640080" cy="640080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10351008" y="2011680"/>
            <a:ext cx="640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875520" y="2743200"/>
            <a:ext cx="1600200" cy="21031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827"/>
                </a:solidFill>
              </a:rPr>
              <a:t>5. Poprawki i raporty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902952" y="304495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30" dirty="0">
                <a:solidFill>
                  <a:srgbClr val="475569"/>
                </a:solidFill>
              </a:rPr>
              <a:t>GO/NO-GO, ryzyka, monitoring</a:t>
            </a:r>
            <a:endParaRPr lang="en-US" sz="730" dirty="0"/>
          </a:p>
        </p:txBody>
      </p:sp>
      <p:sp>
        <p:nvSpPr>
          <p:cNvPr id="33" name="Shape 31"/>
          <p:cNvSpPr/>
          <p:nvPr/>
        </p:nvSpPr>
        <p:spPr>
          <a:xfrm>
            <a:off x="960120" y="4572000"/>
            <a:ext cx="10287000" cy="713232"/>
          </a:xfrm>
          <a:prstGeom prst="roundRect">
            <a:avLst>
              <a:gd name="adj" fmla="val 769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1371600" y="4828032"/>
            <a:ext cx="9464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Współpraca: moduły były rozwijane osobno, ale weryfikowane wspólnym przepływem end‑to‑end.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320040" y="6629400"/>
            <a:ext cx="4114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CBD5E1"/>
                </a:solidFill>
              </a:rPr>
              <a:t>WMS • projekt magazynowy • GitHub</a:t>
            </a:r>
            <a:endParaRPr lang="en-US" sz="550" dirty="0"/>
          </a:p>
        </p:txBody>
      </p:sp>
      <p:sp>
        <p:nvSpPr>
          <p:cNvPr id="37" name="Text 35"/>
          <p:cNvSpPr/>
          <p:nvPr/>
        </p:nvSpPr>
        <p:spPr>
          <a:xfrm>
            <a:off x="11612880" y="6629400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 rozwoju aplikacji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Na podstawie raportów: domknięcie uwag technicznych, monitoring pilota i dalsze skalowanie. Funkcje dodatkowe oznaczono jako do potwierdzenia.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749808" y="1508760"/>
            <a:ext cx="1783080" cy="27432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05256" y="181051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11827"/>
                </a:solidFill>
              </a:rPr>
              <a:t>Stabilizacja release</a:t>
            </a:r>
            <a:endParaRPr lang="en-US" sz="980" dirty="0"/>
          </a:p>
        </p:txBody>
      </p:sp>
      <p:sp>
        <p:nvSpPr>
          <p:cNvPr id="6" name="Shape 4"/>
          <p:cNvSpPr/>
          <p:nvPr/>
        </p:nvSpPr>
        <p:spPr>
          <a:xfrm>
            <a:off x="978408" y="2331720"/>
            <a:ext cx="13258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05256" y="26060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</a:rPr>
              <a:t>domknięcie ostrzeżeń Flutter analyze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435608" y="3685032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2990088" y="1508760"/>
            <a:ext cx="1783080" cy="27432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3145536" y="181051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11827"/>
                </a:solidFill>
              </a:rPr>
              <a:t>Smoke po deployu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3218688" y="2331720"/>
            <a:ext cx="132588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145536" y="26060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</a:rPr>
              <a:t>logowanie, dokumenty, zadania, role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675888" y="3685032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5230368" y="1508760"/>
            <a:ext cx="1783080" cy="27432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385816" y="181051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11827"/>
                </a:solidFill>
              </a:rPr>
              <a:t>Monitoring operacji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5458968" y="2331720"/>
            <a:ext cx="132588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5385816" y="26060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</a:rPr>
              <a:t>pierwsze RW/PZ/MM po uruchomieniu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916168" y="3685032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7470648" y="1508760"/>
            <a:ext cx="1783080" cy="27432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7626096" y="181051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11827"/>
                </a:solidFill>
              </a:rPr>
              <a:t>Skalowanie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7699248" y="2331720"/>
            <a:ext cx="1325880" cy="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7626096" y="26060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</a:rPr>
              <a:t>powyżej 25 userów wymaga dalszego tuningu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8156448" y="3685032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9710928" y="1508760"/>
            <a:ext cx="1783080" cy="27432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9866376" y="181051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11827"/>
                </a:solidFill>
              </a:rPr>
              <a:t>Rozwój funkcjonalny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9939528" y="2331720"/>
            <a:ext cx="1325880" cy="0"/>
          </a:xfrm>
          <a:prstGeom prst="line">
            <a:avLst/>
          </a:prstGeom>
          <a:noFill/>
          <a:ln w="25400">
            <a:solidFill>
              <a:srgbClr val="1118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9866376" y="26060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</a:rPr>
              <a:t>np. skanowanie kodów / KPI — do potwierdzenia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10396728" y="3685032"/>
            <a:ext cx="411480" cy="411480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1371600" y="4892040"/>
            <a:ext cx="9418320" cy="621792"/>
          </a:xfrm>
          <a:prstGeom prst="roundRect">
            <a:avLst>
              <a:gd name="adj" fmla="val 8824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1691640" y="5111496"/>
            <a:ext cx="8778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11827"/>
                </a:solidFill>
              </a:rPr>
              <a:t>Nie udajemy, że roadmapa jest gotowa w repo — część funkcji przyszłych wymaga decyzji biznesowej zespołu.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320040" y="6629400"/>
            <a:ext cx="4114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CBD5E1"/>
                </a:solidFill>
              </a:rPr>
              <a:t>WMS • projekt magazynowy • GitHub</a:t>
            </a:r>
            <a:endParaRPr lang="en-US" sz="550" dirty="0"/>
          </a:p>
        </p:txBody>
      </p:sp>
      <p:sp>
        <p:nvSpPr>
          <p:cNvPr id="33" name="Text 31"/>
          <p:cNvSpPr/>
          <p:nvPr/>
        </p:nvSpPr>
        <p:spPr>
          <a:xfrm>
            <a:off x="11612880" y="6629400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Proces wdrożenia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Bezpieczny scenariusz: pilotaż na ograniczonym zakresie, potem pełniejsze wdrożenie.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1353312" cy="256032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923544" y="1764792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923544" y="1920240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76072" y="2523744"/>
            <a:ext cx="1207008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111827"/>
                </a:solidFill>
              </a:rPr>
              <a:t>Analiza magazynu</a:t>
            </a:r>
            <a:endParaRPr lang="en-US" sz="840" dirty="0"/>
          </a:p>
        </p:txBody>
      </p:sp>
      <p:sp>
        <p:nvSpPr>
          <p:cNvPr id="8" name="Text 6"/>
          <p:cNvSpPr/>
          <p:nvPr/>
        </p:nvSpPr>
        <p:spPr>
          <a:xfrm>
            <a:off x="594360" y="2880360"/>
            <a:ext cx="1170432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640" dirty="0">
                <a:solidFill>
                  <a:srgbClr val="475569"/>
                </a:solidFill>
              </a:rPr>
              <a:t>PZ/MM/RW, role, lokalizacje</a:t>
            </a:r>
            <a:endParaRPr lang="en-US" sz="640" dirty="0"/>
          </a:p>
        </p:txBody>
      </p:sp>
      <p:sp>
        <p:nvSpPr>
          <p:cNvPr id="9" name="Shape 7"/>
          <p:cNvSpPr/>
          <p:nvPr/>
        </p:nvSpPr>
        <p:spPr>
          <a:xfrm>
            <a:off x="1856232" y="2788920"/>
            <a:ext cx="310896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2167128" y="1508760"/>
            <a:ext cx="1353312" cy="256032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2587752" y="1764792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2587752" y="1920240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240280" y="2523744"/>
            <a:ext cx="1207008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111827"/>
                </a:solidFill>
              </a:rPr>
              <a:t>Konfiguracja</a:t>
            </a:r>
            <a:endParaRPr lang="en-US" sz="840" dirty="0"/>
          </a:p>
        </p:txBody>
      </p:sp>
      <p:sp>
        <p:nvSpPr>
          <p:cNvPr id="14" name="Text 12"/>
          <p:cNvSpPr/>
          <p:nvPr/>
        </p:nvSpPr>
        <p:spPr>
          <a:xfrm>
            <a:off x="2258568" y="2880360"/>
            <a:ext cx="1170432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640" dirty="0">
                <a:solidFill>
                  <a:srgbClr val="475569"/>
                </a:solidFill>
              </a:rPr>
              <a:t>użytkownicy, produkty, lokalizacje</a:t>
            </a:r>
            <a:endParaRPr lang="en-US" sz="640" dirty="0"/>
          </a:p>
        </p:txBody>
      </p:sp>
      <p:sp>
        <p:nvSpPr>
          <p:cNvPr id="15" name="Shape 13"/>
          <p:cNvSpPr/>
          <p:nvPr/>
        </p:nvSpPr>
        <p:spPr>
          <a:xfrm>
            <a:off x="3520440" y="2788920"/>
            <a:ext cx="310896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3831336" y="1508760"/>
            <a:ext cx="1353312" cy="256032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251960" y="1764792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251960" y="1920240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904488" y="2523744"/>
            <a:ext cx="1207008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111827"/>
                </a:solidFill>
              </a:rPr>
              <a:t>Dane startowe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3922776" y="2880360"/>
            <a:ext cx="1170432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640" dirty="0">
                <a:solidFill>
                  <a:srgbClr val="475569"/>
                </a:solidFill>
              </a:rPr>
              <a:t>demo/seed lub import danych</a:t>
            </a:r>
            <a:endParaRPr lang="en-US" sz="640" dirty="0"/>
          </a:p>
        </p:txBody>
      </p:sp>
      <p:sp>
        <p:nvSpPr>
          <p:cNvPr id="21" name="Shape 19"/>
          <p:cNvSpPr/>
          <p:nvPr/>
        </p:nvSpPr>
        <p:spPr>
          <a:xfrm>
            <a:off x="5184648" y="2788920"/>
            <a:ext cx="310896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5495544" y="1508760"/>
            <a:ext cx="1353312" cy="256032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5916168" y="1764792"/>
            <a:ext cx="502920" cy="5029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5916168" y="1920240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568696" y="2523744"/>
            <a:ext cx="1207008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111827"/>
                </a:solidFill>
              </a:rPr>
              <a:t>Uruchomienie</a:t>
            </a:r>
            <a:endParaRPr lang="en-US" sz="840" dirty="0"/>
          </a:p>
        </p:txBody>
      </p:sp>
      <p:sp>
        <p:nvSpPr>
          <p:cNvPr id="26" name="Text 24"/>
          <p:cNvSpPr/>
          <p:nvPr/>
        </p:nvSpPr>
        <p:spPr>
          <a:xfrm>
            <a:off x="5586984" y="2880360"/>
            <a:ext cx="1170432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640" dirty="0">
                <a:solidFill>
                  <a:srgbClr val="475569"/>
                </a:solidFill>
              </a:rPr>
              <a:t>web, mobile, API</a:t>
            </a:r>
            <a:endParaRPr lang="en-US" sz="640" dirty="0"/>
          </a:p>
        </p:txBody>
      </p:sp>
      <p:sp>
        <p:nvSpPr>
          <p:cNvPr id="27" name="Shape 25"/>
          <p:cNvSpPr/>
          <p:nvPr/>
        </p:nvSpPr>
        <p:spPr>
          <a:xfrm>
            <a:off x="6848856" y="2788920"/>
            <a:ext cx="310896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7159752" y="1508760"/>
            <a:ext cx="1353312" cy="256032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7580376" y="1764792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7580376" y="1920240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5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232904" y="2523744"/>
            <a:ext cx="1207008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111827"/>
                </a:solidFill>
              </a:rPr>
              <a:t>Szkolenie</a:t>
            </a:r>
            <a:endParaRPr lang="en-US" sz="840" dirty="0"/>
          </a:p>
        </p:txBody>
      </p:sp>
      <p:sp>
        <p:nvSpPr>
          <p:cNvPr id="32" name="Text 30"/>
          <p:cNvSpPr/>
          <p:nvPr/>
        </p:nvSpPr>
        <p:spPr>
          <a:xfrm>
            <a:off x="7251192" y="2880360"/>
            <a:ext cx="1170432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640" dirty="0">
                <a:solidFill>
                  <a:srgbClr val="475569"/>
                </a:solidFill>
              </a:rPr>
              <a:t>role i wykonywanie zadań</a:t>
            </a:r>
            <a:endParaRPr lang="en-US" sz="640" dirty="0"/>
          </a:p>
        </p:txBody>
      </p:sp>
      <p:sp>
        <p:nvSpPr>
          <p:cNvPr id="33" name="Shape 31"/>
          <p:cNvSpPr/>
          <p:nvPr/>
        </p:nvSpPr>
        <p:spPr>
          <a:xfrm>
            <a:off x="8513064" y="2788920"/>
            <a:ext cx="310896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8823960" y="1508760"/>
            <a:ext cx="1353312" cy="256032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9244584" y="1764792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9244584" y="1920240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6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8897112" y="2523744"/>
            <a:ext cx="1207008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111827"/>
                </a:solidFill>
              </a:rPr>
              <a:t>Pilotaż</a:t>
            </a:r>
            <a:endParaRPr lang="en-US" sz="840" dirty="0"/>
          </a:p>
        </p:txBody>
      </p:sp>
      <p:sp>
        <p:nvSpPr>
          <p:cNvPr id="38" name="Text 36"/>
          <p:cNvSpPr/>
          <p:nvPr/>
        </p:nvSpPr>
        <p:spPr>
          <a:xfrm>
            <a:off x="8915400" y="2880360"/>
            <a:ext cx="1170432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640" dirty="0">
                <a:solidFill>
                  <a:srgbClr val="475569"/>
                </a:solidFill>
              </a:rPr>
              <a:t>wybrane procesy i monitoring</a:t>
            </a:r>
            <a:endParaRPr lang="en-US" sz="640" dirty="0"/>
          </a:p>
        </p:txBody>
      </p:sp>
      <p:sp>
        <p:nvSpPr>
          <p:cNvPr id="39" name="Shape 37"/>
          <p:cNvSpPr/>
          <p:nvPr/>
        </p:nvSpPr>
        <p:spPr>
          <a:xfrm>
            <a:off x="10177272" y="2788920"/>
            <a:ext cx="310896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10488168" y="1508760"/>
            <a:ext cx="1353312" cy="256032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10908792" y="1764792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10908792" y="1920240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7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0561320" y="2523744"/>
            <a:ext cx="1207008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111827"/>
                </a:solidFill>
              </a:rPr>
              <a:t>Decyzja</a:t>
            </a:r>
            <a:endParaRPr lang="en-US" sz="840" dirty="0"/>
          </a:p>
        </p:txBody>
      </p:sp>
      <p:sp>
        <p:nvSpPr>
          <p:cNvPr id="44" name="Text 42"/>
          <p:cNvSpPr/>
          <p:nvPr/>
        </p:nvSpPr>
        <p:spPr>
          <a:xfrm>
            <a:off x="10579608" y="2880360"/>
            <a:ext cx="1170432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640" dirty="0">
                <a:solidFill>
                  <a:srgbClr val="475569"/>
                </a:solidFill>
              </a:rPr>
              <a:t>pełne wdrożenie lub dalszy tuning</a:t>
            </a:r>
            <a:endParaRPr lang="en-US" sz="640" dirty="0"/>
          </a:p>
        </p:txBody>
      </p:sp>
      <p:sp>
        <p:nvSpPr>
          <p:cNvPr id="45" name="Shape 43"/>
          <p:cNvSpPr/>
          <p:nvPr/>
        </p:nvSpPr>
        <p:spPr>
          <a:xfrm>
            <a:off x="1097280" y="4800600"/>
            <a:ext cx="9966960" cy="713232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1417320" y="5047488"/>
            <a:ext cx="9326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Podsumowanie: WMS łączy web, mobile i API, obsługuje role, PZ/MM/RW, zadania, raporty i testy — gotowy do prezentacji klientowi oraz pilotażu.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320040" y="6629400"/>
            <a:ext cx="4114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CBD5E1"/>
                </a:solidFill>
              </a:rPr>
              <a:t>WMS • projekt magazynowy • GitHub</a:t>
            </a:r>
            <a:endParaRPr lang="en-US" sz="550" dirty="0"/>
          </a:p>
        </p:txBody>
      </p:sp>
      <p:sp>
        <p:nvSpPr>
          <p:cNvPr id="49" name="Text 47"/>
          <p:cNvSpPr/>
          <p:nvPr/>
        </p:nvSpPr>
        <p:spPr>
          <a:xfrm>
            <a:off x="11612880" y="6629400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3200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Funkcjonalności — widok w aplikacji webowej (1/2)</a:t>
            </a:r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Nawiązanie do slajdu „Funkcjonalności systemu”: dashboard oraz moduł dokumentów PZ w realnym panelu.</a:t>
            </a:r>
          </a:p>
        </p:txBody>
      </p:sp>
      <p:sp>
        <p:nvSpPr>
          <p:cNvPr id="21" name="Text 19"/>
          <p:cNvSpPr/>
          <p:nvPr/>
        </p:nvSpPr>
        <p:spPr>
          <a:xfrm>
            <a:off x="320040" y="6629400"/>
            <a:ext cx="4114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CBD5E1"/>
                </a:solidFill>
              </a:rPr>
              <a:t>WMS • projekt magazynowy • GitHub</a:t>
            </a:r>
            <a:endParaRPr lang="en-US" sz="550" dirty="0"/>
          </a:p>
        </p:txBody>
      </p:sp>
      <p:sp>
        <p:nvSpPr>
          <p:cNvPr id="22" name="Text 20"/>
          <p:cNvSpPr/>
          <p:nvPr/>
        </p:nvSpPr>
        <p:spPr>
          <a:xfrm>
            <a:off x="11612880" y="6629400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" y="932688"/>
            <a:ext cx="4096512" cy="32186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3776" y="1042416"/>
            <a:ext cx="64008" cy="29992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736592" y="932688"/>
            <a:ext cx="4096512" cy="32186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791456" y="1042416"/>
            <a:ext cx="64008" cy="29992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02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42416"/>
            <a:ext cx="3877056" cy="2751265"/>
          </a:xfrm>
          <a:prstGeom prst="rect">
            <a:avLst/>
          </a:prstGeom>
        </p:spPr>
      </p:pic>
      <p:pic>
        <p:nvPicPr>
          <p:cNvPr id="28" name="Picture 27" descr="03_pz_lis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042416"/>
            <a:ext cx="3877056" cy="275126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912" y="4206240"/>
            <a:ext cx="409651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4748B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36592" y="4206240"/>
            <a:ext cx="409651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4748B"/>
                </a:solidFill>
                <a:latin typeface="Aptos"/>
              </a:defRPr>
            </a:pPr>
            <a:r>
              <a:t>Dokumenty PZ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3200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Funkcjonalności — widok w aplikacji webowej (2/2)</a:t>
            </a:r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Stany magazynowe i dokumenty MM — te same obszary z karty funkcji, pokazane w interfejsie użytkownika.</a:t>
            </a:r>
          </a:p>
        </p:txBody>
      </p:sp>
      <p:sp>
        <p:nvSpPr>
          <p:cNvPr id="21" name="Text 19"/>
          <p:cNvSpPr/>
          <p:nvPr/>
        </p:nvSpPr>
        <p:spPr>
          <a:xfrm>
            <a:off x="320040" y="6629400"/>
            <a:ext cx="4114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CBD5E1"/>
                </a:solidFill>
              </a:rPr>
              <a:t>WMS • projekt magazynowy • GitHub</a:t>
            </a:r>
            <a:endParaRPr lang="en-US" sz="550" dirty="0"/>
          </a:p>
        </p:txBody>
      </p:sp>
      <p:sp>
        <p:nvSpPr>
          <p:cNvPr id="22" name="Text 20"/>
          <p:cNvSpPr/>
          <p:nvPr/>
        </p:nvSpPr>
        <p:spPr>
          <a:xfrm>
            <a:off x="11612880" y="6629400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" y="932688"/>
            <a:ext cx="4096512" cy="32186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3776" y="1042416"/>
            <a:ext cx="64008" cy="29992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736592" y="932688"/>
            <a:ext cx="4096512" cy="32186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791456" y="1042416"/>
            <a:ext cx="64008" cy="29992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12_st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42416"/>
            <a:ext cx="3877056" cy="2751265"/>
          </a:xfrm>
          <a:prstGeom prst="rect">
            <a:avLst/>
          </a:prstGeom>
        </p:spPr>
      </p:pic>
      <p:pic>
        <p:nvPicPr>
          <p:cNvPr id="28" name="Picture 27" descr="10_mm_lis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042416"/>
            <a:ext cx="3877056" cy="275126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912" y="4206240"/>
            <a:ext cx="409651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4748B"/>
                </a:solidFill>
                <a:latin typeface="Aptos"/>
              </a:defRPr>
            </a:pPr>
            <a:r>
              <a:t>Stany magazynowe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36592" y="4206240"/>
            <a:ext cx="409651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4748B"/>
                </a:solidFill>
                <a:latin typeface="Aptos"/>
              </a:defRPr>
            </a:pPr>
            <a:r>
              <a:t>Dokumenty MM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3200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Proces magazynowy — widok w aplikacji mobilnej (Flutter)</a:t>
            </a:r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Nawiązanie do slajdu „Proces działania WMS”: ta sama logika operacji, widziana z perspektywy magazyniera na telefonie.</a:t>
            </a:r>
          </a:p>
        </p:txBody>
      </p:sp>
      <p:sp>
        <p:nvSpPr>
          <p:cNvPr id="21" name="Text 19"/>
          <p:cNvSpPr/>
          <p:nvPr/>
        </p:nvSpPr>
        <p:spPr>
          <a:xfrm>
            <a:off x="320040" y="6629400"/>
            <a:ext cx="4114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CBD5E1"/>
                </a:solidFill>
              </a:rPr>
              <a:t>WMS • projekt magazynowy • GitHub</a:t>
            </a:r>
            <a:endParaRPr lang="en-US" sz="550" dirty="0"/>
          </a:p>
        </p:txBody>
      </p:sp>
      <p:sp>
        <p:nvSpPr>
          <p:cNvPr id="22" name="Text 20"/>
          <p:cNvSpPr/>
          <p:nvPr/>
        </p:nvSpPr>
        <p:spPr>
          <a:xfrm>
            <a:off x="11612880" y="6629400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932688"/>
            <a:ext cx="7498079" cy="2542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3544" y="1042416"/>
            <a:ext cx="64008" cy="2322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68680" y="3602736"/>
            <a:ext cx="7498079" cy="2542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3544" y="3712464"/>
            <a:ext cx="64008" cy="2322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Zrzut_ekranu_2026-05-11_o_21.38.47-343536be-4ccc-4187-82f1-dd2d63ad5a6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1060704"/>
            <a:ext cx="3843783" cy="2286000"/>
          </a:xfrm>
          <a:prstGeom prst="rect">
            <a:avLst/>
          </a:prstGeom>
        </p:spPr>
      </p:pic>
      <p:pic>
        <p:nvPicPr>
          <p:cNvPr id="28" name="Picture 27" descr="flutter_worker_roun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3730752"/>
            <a:ext cx="1054700" cy="22860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68680" y="3511296"/>
            <a:ext cx="749807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4748B"/>
                </a:solidFill>
                <a:latin typeface="Aptos"/>
              </a:defRPr>
            </a:pPr>
            <a:r>
              <a:t>Logowanie / konfiguracja API na urządzeniu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6181344"/>
            <a:ext cx="749807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4748B"/>
                </a:solidFill>
                <a:latin typeface="Aptos"/>
              </a:defRPr>
            </a:pPr>
            <a:r>
              <a:t>Lista zadań magazyniera (worker)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3200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Plan rozwoju — od pilotażu do produkcji (uzupełnienie)</a:t>
            </a:r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Rozszerzenie slajdu „Plan rozwoju aplikacji”: konkrety techniczne i organizacyjne po pierwszym wdrożeniu.</a:t>
            </a:r>
          </a:p>
        </p:txBody>
      </p:sp>
      <p:sp>
        <p:nvSpPr>
          <p:cNvPr id="21" name="Text 19"/>
          <p:cNvSpPr/>
          <p:nvPr/>
        </p:nvSpPr>
        <p:spPr>
          <a:xfrm>
            <a:off x="320040" y="6629400"/>
            <a:ext cx="4114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CBD5E1"/>
                </a:solidFill>
              </a:rPr>
              <a:t>WMS • projekt magazynowy • GitHub</a:t>
            </a:r>
            <a:endParaRPr lang="en-US" sz="550" dirty="0"/>
          </a:p>
        </p:txBody>
      </p:sp>
      <p:sp>
        <p:nvSpPr>
          <p:cNvPr id="22" name="Text 20"/>
          <p:cNvSpPr/>
          <p:nvPr/>
        </p:nvSpPr>
        <p:spPr>
          <a:xfrm>
            <a:off x="11612880" y="6629400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960120"/>
            <a:ext cx="8229600" cy="5074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111827"/>
                </a:solidFill>
                <a:latin typeface="Aptos"/>
              </a:defRPr>
            </a:pPr>
            <a:r>
              <a:t>Wdrożenie produkcyjne: Docker, reverse proxy (HTTPS), secrets, backup i procedury rollback.</a:t>
            </a:r>
          </a:p>
          <a:p>
            <a:pPr>
              <a:spcAft>
                <a:spcPts val="500"/>
              </a:spcAft>
              <a:defRPr sz="1100">
                <a:solidFill>
                  <a:srgbClr val="111827"/>
                </a:solidFill>
                <a:latin typeface="Aptos"/>
              </a:defRPr>
            </a:pPr>
            <a:r>
              <a:t>CI/CD: lint + testy API + Vitest, artefakty buildów, tagowanie release.</a:t>
            </a:r>
          </a:p>
          <a:p>
            <a:pPr>
              <a:spcAft>
                <a:spcPts val="500"/>
              </a:spcAft>
              <a:defRPr sz="1100">
                <a:solidFill>
                  <a:srgbClr val="111827"/>
                </a:solidFill>
                <a:latin typeface="Aptos"/>
              </a:defRPr>
            </a:pPr>
            <a:r>
              <a:t>Real-time / sync: WebSocket lub SSE albo inteligentny polling per widok (bez „odświeżania na pale”).</a:t>
            </a:r>
          </a:p>
          <a:p>
            <a:pPr>
              <a:spcAft>
                <a:spcPts val="500"/>
              </a:spcAft>
              <a:defRPr sz="1100">
                <a:solidFill>
                  <a:srgbClr val="111827"/>
                </a:solidFill>
                <a:latin typeface="Aptos"/>
              </a:defRPr>
            </a:pPr>
            <a:r>
              <a:t>Integracje: rozszerzone CSV/XLSX, ewentualnie endpointy pod ERP (stany, potwierdzenia wysyłek).</a:t>
            </a:r>
          </a:p>
          <a:p>
            <a:pPr>
              <a:spcAft>
                <a:spcPts val="500"/>
              </a:spcAft>
              <a:defRPr sz="1100">
                <a:solidFill>
                  <a:srgbClr val="111827"/>
                </a:solidFill>
                <a:latin typeface="Aptos"/>
              </a:defRPr>
            </a:pPr>
            <a:r>
              <a:t>Multi-magazyn / multi-site: izolacja danych, filtry globalne, raporty skonsolidowane.</a:t>
            </a:r>
          </a:p>
          <a:p>
            <a:pPr>
              <a:spcAft>
                <a:spcPts val="500"/>
              </a:spcAft>
              <a:defRPr sz="1100">
                <a:solidFill>
                  <a:srgbClr val="111827"/>
                </a:solidFill>
                <a:latin typeface="Aptos"/>
              </a:defRPr>
            </a:pPr>
            <a:r>
              <a:t>TMS / logistyka (opcjonalnie): etykiety, śledzenie przesyłek — po decyzji biznesowej.</a:t>
            </a:r>
          </a:p>
          <a:p>
            <a:pPr>
              <a:spcAft>
                <a:spcPts val="500"/>
              </a:spcAft>
              <a:defRPr sz="1100">
                <a:solidFill>
                  <a:srgbClr val="111827"/>
                </a:solidFill>
                <a:latin typeface="Aptos"/>
              </a:defRPr>
            </a:pPr>
            <a:r>
              <a:t>Bezpieczeństwo: MFA dla ról admin, polityki haseł, audyt konfiguracji, rotacja kluczy JWT.</a:t>
            </a:r>
          </a:p>
          <a:p>
            <a:pPr>
              <a:spcAft>
                <a:spcPts val="500"/>
              </a:spcAft>
              <a:defRPr sz="1100">
                <a:solidFill>
                  <a:srgbClr val="111827"/>
                </a:solidFill>
                <a:latin typeface="Aptos"/>
              </a:defRPr>
            </a:pPr>
            <a:r>
              <a:t>Monitoring: metryki (np. Prometheus/Grafana), alerty na 5xx i kolejki zadań.</a:t>
            </a:r>
          </a:p>
          <a:p>
            <a:pPr>
              <a:spcAft>
                <a:spcPts val="500"/>
              </a:spcAft>
              <a:defRPr sz="1100">
                <a:solidFill>
                  <a:srgbClr val="111827"/>
                </a:solidFill>
                <a:latin typeface="Aptos"/>
              </a:defRPr>
            </a:pPr>
            <a:r>
              <a:t>Wydajność: indeksy, cache raportów, kolejki dla operacji masowych (skalowanie &gt;~25 równoległych użytkowników).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3200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Podział prac w zespole projektowym</a:t>
            </a:r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Uzupełnienie slajdu „Metodologia pracy zespołu”: kto odpowiadał za które warstwy systemu i dokumentację.</a:t>
            </a:r>
          </a:p>
        </p:txBody>
      </p:sp>
      <p:sp>
        <p:nvSpPr>
          <p:cNvPr id="21" name="Text 19"/>
          <p:cNvSpPr/>
          <p:nvPr/>
        </p:nvSpPr>
        <p:spPr>
          <a:xfrm>
            <a:off x="320040" y="6629400"/>
            <a:ext cx="4114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CBD5E1"/>
                </a:solidFill>
              </a:rPr>
              <a:t>WMS • projekt magazynowy • GitHub</a:t>
            </a:r>
            <a:endParaRPr lang="en-US" sz="550" dirty="0"/>
          </a:p>
        </p:txBody>
      </p:sp>
      <p:sp>
        <p:nvSpPr>
          <p:cNvPr id="22" name="Text 20"/>
          <p:cNvSpPr/>
          <p:nvPr/>
        </p:nvSpPr>
        <p:spPr>
          <a:xfrm>
            <a:off x="11612880" y="6629400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960120"/>
            <a:ext cx="8229600" cy="5074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111827"/>
                </a:solidFill>
                <a:latin typeface="Aptos"/>
              </a:defRPr>
            </a:pPr>
            <a:r>
              <a:t>Jakub Rzepkowski — backend (FastAPI, API, migracje, dokumenty PZ/MM/RW, zadania, RBAC) oraz aplikacja mobilna Flutter (worker, API, skaner, iOS/Android).</a:t>
            </a:r>
          </a:p>
          <a:p>
            <a:pPr>
              <a:spcAft>
                <a:spcPts val="500"/>
              </a:spcAft>
              <a:defRPr sz="1100">
                <a:solidFill>
                  <a:srgbClr val="111827"/>
                </a:solidFill>
                <a:latin typeface="Aptos"/>
              </a:defRPr>
            </a:pPr>
            <a:r>
              <a:t>Miłosz Marek — frontend web (React, TypeScript, Vite, MUI): moduły operacyjne, formularze dokumentów, stany, zadania, UX i integracja z API.</a:t>
            </a:r>
          </a:p>
          <a:p>
            <a:pPr>
              <a:spcAft>
                <a:spcPts val="500"/>
              </a:spcAft>
              <a:defRPr sz="1100">
                <a:solidFill>
                  <a:srgbClr val="111827"/>
                </a:solidFill>
                <a:latin typeface="Aptos"/>
              </a:defRPr>
            </a:pPr>
            <a:r>
              <a:t>Grzegorz Pawlak — dokumentacja i jakość formalna: scenariusze testów manualnych, arkusze ryzyk/monitoringu, raporty UAT/GO–NO–GO, feedback interesariuszy oraz materiały porównawcze dla promotora/klienta.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1499</Words>
  <Application>Microsoft Office PowerPoint</Application>
  <PresentationFormat>Widescreen</PresentationFormat>
  <Paragraphs>291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Projekt WMS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WMS - prezentacja projektu</dc:title>
  <dc:subject>WMS presentation updated from GitHub data</dc:subject>
  <dc:creator>OpenAI</dc:creator>
  <cp:lastModifiedBy>Grzegorz Pawlak</cp:lastModifiedBy>
  <cp:revision>2</cp:revision>
  <dcterms:created xsi:type="dcterms:W3CDTF">2026-05-11T09:27:18Z</dcterms:created>
  <dcterms:modified xsi:type="dcterms:W3CDTF">2026-05-11T09:43:15Z</dcterms:modified>
</cp:coreProperties>
</file>