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otwierający: przedstawić w jednym zdaniu, że moduł mobilny realizuje ten sam model danych co system webowy i jest przeznaczony dla pracownika magazynu w terenie.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Krótko przejść po czterech blokach; szczegóły na slajdach z ekranami.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Można powiązać z wymaganiami funkcjonalnymi pracy: mobilność, ergonomia, audyt.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Jeśli promotor pyta o skalowanie: podkreślić bezstanowość API i możliwość wielu urządzeń.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jest spójny, zamknięty scenariusz możliwy do powtórzenia na środowisku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Podkreślić spójność z backendem: jedno źródło prawdy dla użytkowników i uprawnień.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Można wspomnieć o rozróżnieniu: „Rozpocznij” rezerwuje pracę, „Potwierdź” wiąże się z walidacją miejsca.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warto powiedzieć: rejestracja jest atomowa po stronie serwera — jeden krok, spójny 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Zaproponować pytania promotora — przygotowane odpowiedzi: bezpieczeństwo JWT, przypisanie zadań, spójność stanów.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System WMS — moduł mobilny dla operatora magazynu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5CAE9"/>
                </a:solidFill>
              </a:rPr>
              <a:t>Aplikacja Flutter (iOS / Android / desktop): uwierzytelnianie, przyjęcia PZ ze skanem kodu, realizacja zadań magazynowych z potwierdzeniem lokalizacji.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474F"/>
                </a:solidFill>
              </a:rPr>
              <a:t>•  Materiał demonstracyjny: pełny przepływ operacyjny zarejestrowany automatycznie (test integracyjny).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474F"/>
                </a:solidFill>
              </a:rPr>
              <a:t>•  Backend: REST API (FastAPI), JWT, role (WORKER), spójny model dokumentów i zadań z panelem webowym.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474F"/>
                </a:solidFill>
              </a:rPr>
              <a:t>•  Na slajdach: realne ekrany — od logowania, przez utworzenie i rejestrację PZ, do zakończenia zadania odłożenia.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636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78909C"/>
                </a:solidFill>
              </a:rPr>
              <a:t>Uzupełnienie pracy dyplomowej  •  [Imię Nazwisko]  •  [Rok / uczelnia]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9601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Kontekst i cel modułu mobilnego.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Architektura integracji z systemem WMS.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Demonstracja przepływu: PZ → rejestracja → zadanie odłożenia → potwierdzenie lokalizacji.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Podsumowanie możliwości i obszarów rozwoju.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9601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Cel modułu mobilnego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Udostępnienie pracownikowi magazynu funkcji krytycznych poza stanowiskiem PC: przyjęcia, realizacja zadań.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Ograniczenie błędów operacyjnych: identyfikacja kodem, filtrowanie katalogu, weryfikacja lokalizacji przy zamknięciu zadania.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Spójność z warstwą serwerową: te same endpointy i reguły co aplikacja webowa — brak „drugiego systemu”.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9601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Architektura integracji (skrót)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Klient Flutter — komunikacja HTTPS/JSON z API w wersji /api/v1.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Uwierzytelnianie: token JWT (access); odświeżanie sesji zgodnie z polityką serwera.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Encje kluczowe: dokument PZ (przyjęcie), pozycje z miejscem odłożenia, zadanie typu odłożenie (PUTAWAY), lokalizacje, stany.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Zrzuty ekranu pochodzą z uruchomienia na macOS (ten sam kod co iOS/Android); dane z działającego backendu demonstracyjnego.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9601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Scenariusz demonstracyjny — przebieg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Operator loguje się na konto magazyniera (00002).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Tworzy PZ: dostawca Northwind (SUP-001), towar PRD-1001, ilość, miejsce docelowe STO-01.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Rejestruje przyjęcie — towar na buforze, generowane zadania odłożenia.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Realizuje zadanie: start pracy → potwierdzenie kodem STO-01 → zadanie zakończone; weryfikacja na liście z ujawnieniem zakończonych.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Uwierzytelnianie operatora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Ten sam mechanizm co w panelu WWW: kod 5-cyfrowy + hasło, sesja JWT.</a:t>
            </a:r>
          </a:p>
        </p:txBody>
      </p:sp>
      <p:pic>
        <p:nvPicPr>
          <p:cNvPr id="5" name="Picture 4" descr="wms_ops_01_logow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Identyfikacja pracownika magazynu (rola WORKER).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Adres API widoczny na ekranie — ułatwia konfigurację w środowisku deweloperskim i na urządzeniu.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2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Lista zadań magazynowych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Główny ekran pracy: typ zadania, status, filtry, bezpieczne zakończenie ze skanem lokalizacji.</a:t>
            </a:r>
          </a:p>
        </p:txBody>
      </p:sp>
      <p:pic>
        <p:nvPicPr>
          <p:cNvPr id="5" name="Picture 4" descr="wms_ops_02_zadania_pr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Widoczne zadania przypisane do zalogowanego operatora.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Nazewnictwo przystępne dla użytkownika (np. „Odłożenie po przyjęciu” zamiast wyłącznie PUTAWAY).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3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Tworzenie dokumentu przyjęcia (PZ)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Formularz mobilny odzwierciedla reguły biznesowe: dostawca, pozycje, miejsce docelowe odłożenia.</a:t>
            </a:r>
          </a:p>
        </p:txBody>
      </p:sp>
      <p:pic>
        <p:nvPicPr>
          <p:cNvPr id="5" name="Picture 4" descr="wms_ops_03_pz_formular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Przyjęcie przygotowane pod pracę „z łapy”: krótki opis procesu na ekranie.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Kolejne kroki: wybór dostawcy → pozycje z katalogu (skan/wyszukiwanie) → utworzenie dokumentu.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4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Powiązanie z dostawcą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Katalog towarów jest filtrowany — tylko asortyment przypisany do wybranego dostawcy.</a:t>
            </a:r>
          </a:p>
        </p:txBody>
      </p:sp>
      <p:pic>
        <p:nvPicPr>
          <p:cNvPr id="5" name="Picture 4" descr="wms_ops_04_pz_po_wyborze_dostaw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Ogranicza błędy wyboru i jest zgodne z walidacją po stronie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5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Wybór towaru — katalog i skan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Operator może wyszukać produkt lub użyć ścieżki „jak po skanie” (wpis kodu / skaner).</a:t>
            </a:r>
          </a:p>
        </p:txBody>
      </p:sp>
      <p:pic>
        <p:nvPicPr>
          <p:cNvPr id="5" name="Picture 4" descr="wms_ops_05_pz_wybor_towaru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Arkusz dolny (bottom sheet) — wzorzec znany z aplikacji mobilnych.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6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Wprowadzenie kodu (SKU / EAN)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Ten sam dialog obsługuje wpis ręczny i integrację ze skanerem — na zrzucie symulacja kodu PRD-1001.</a:t>
            </a:r>
          </a:p>
        </p:txBody>
      </p:sp>
      <p:pic>
        <p:nvPicPr>
          <p:cNvPr id="5" name="Picture 4" descr="wms_ops_06_pz_dialog_kodu_jak_ska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Po zatwierdzeniu następuje zapytanie do API i lista produktów spełniających kryteria.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7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Potwierdzenie pozycji z katalogu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Wybór wiersza = dodanie pozycji do dokumentu PZ.</a:t>
            </a:r>
          </a:p>
        </p:txBody>
      </p:sp>
      <p:pic>
        <p:nvPicPr>
          <p:cNvPr id="5" name="Picture 4" descr="wms_ops_07_pz_lista_po_sk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Widać nazwę, SKU i ewentualny EAN — transparentność dla operatora.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8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Parametry pozycji: ilość i lokalizacja docelowa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Wskazanie regału (np. STO-01) już na etapie przyjęcia — przygotowanie pod zadanie odłożenia.</a:t>
            </a:r>
          </a:p>
        </p:txBody>
      </p:sp>
      <p:pic>
        <p:nvPicPr>
          <p:cNvPr id="5" name="Picture 4" descr="wms_ops_08_pz_pozycja_goto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Backend wymaga lokalizacji magazynowej (nie bufora przyjęć) jako celu odłożenia.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9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Dokument w statusie „Nowy”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Lista dokumentów pokazuje numer PZ i powiązane zadania (po ich utworzeniu).</a:t>
            </a:r>
          </a:p>
        </p:txBody>
      </p:sp>
      <p:pic>
        <p:nvPicPr>
          <p:cNvPr id="5" name="Picture 4" descr="wms_ops_09_pz_lista_z_draf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Przycisk „Zarejestruj” uruchamia księgowanie na bufor i generowanie zadań PUTAWAY.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10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Po rejestracji przyjęcia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Towar na buforze; utworzone zadania odłożenia — identyfikatory widoczne przy dokumencie.</a:t>
            </a:r>
          </a:p>
        </p:txBody>
      </p:sp>
      <p:pic>
        <p:nvPicPr>
          <p:cNvPr id="5" name="Picture 4" descr="wms_ops_10_pz_po_zarejestru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Spójność dokument ↔ zadania: widać, że proces przechodzi do realizacji fizycznej.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11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Realizacja zadania — przed startem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Filtrowanie po typie zadania; operator rozpoczyna pracę przyciskiem „Biorę zadanie”.</a:t>
            </a:r>
          </a:p>
        </p:txBody>
      </p:sp>
      <p:pic>
        <p:nvPicPr>
          <p:cNvPr id="5" name="Picture 4" descr="wms_ops_11_zadanie_p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Lista sortowana chronologicznie — najnowsze zadania u góry.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12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Zadanie w realizacji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Status „w trakcie”; zakończenie wymaga potwierdzenia kodem miejsca docelowego.</a:t>
            </a:r>
          </a:p>
        </p:txBody>
      </p:sp>
      <p:pic>
        <p:nvPicPr>
          <p:cNvPr id="5" name="Picture 4" descr="wms_ops_12_zadanie_w_trakc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Ochrona przed przypadkowym zamknięciem bez wykonania czynności.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13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Walidacja lokalizacji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Kod musi zgadzać się z lokalizacją docelową zadania — analogia do skanu etykiety regału.</a:t>
            </a:r>
          </a:p>
        </p:txBody>
      </p:sp>
      <p:pic>
        <p:nvPicPr>
          <p:cNvPr id="5" name="Picture 4" descr="wms_ops_13_dialog_potwierdz_lokalizac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Zmniejsza ryzyko błędnego księgowania w systemie.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14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Po zakończeniu — widok aktywnych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Zadanie zakończone nie zaśmieca domyślnej listy (ukryte zakończone).</a:t>
            </a:r>
          </a:p>
        </p:txBody>
      </p:sp>
      <p:pic>
        <p:nvPicPr>
          <p:cNvPr id="5" name="Picture 4" descr="wms_ops_14_po_zakonczeniu_zada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Operator widzi tylko to, co wymaga dalszej pracy.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949AB"/>
                </a:solidFill>
              </a:rPr>
              <a:t>Ekran 15 z 15</a:t>
            </a:r>
          </a:p>
          <a:p>
            <a:pPr algn="l"/>
            <a:r>
              <a:rPr sz="2600" b="1">
                <a:solidFill>
                  <a:srgbClr val="1A237E"/>
                </a:solidFill>
              </a:rPr>
              <a:t>Weryfikacja — ujawnienie zadań zakończonych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</a:rPr>
              <a:t>Opcja pokazania zadań zamkniętych — potwierdzenie sukcesu i audytowalność z perspektywy użytkownika.</a:t>
            </a:r>
          </a:p>
        </p:txBody>
      </p:sp>
      <p:pic>
        <p:nvPicPr>
          <p:cNvPr id="5" name="Picture 4" descr="wms_ops_15_zadania_zakonczone_widocz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115568"/>
            <a:ext cx="226111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1675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474F"/>
                </a:solidFill>
              </a:rPr>
              <a:t>→  Status „Zakończone” widoczny po włączeniu przełącznika.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9601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Zaprezentowano kompletny szlak: od utworzenia dokumentu PZ po zamknięcie zadania magazynowego z walidacją lokalizacji.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Interfejs jest przygotowany pod pracę w warunkach magazynu (skan, zwięzłe etykiety, filtry).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Moduł stanowi integralną część systemu WMS — wspólne API, role i model danych z aplikacją webową.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7474F"/>
                </a:solidFill>
              </a:rPr>
              <a:t>•  Kierunki rozwoju (opcjonalnie do dyskusji): tryb offline z kolejką, więcej typów dokumentów mobilnych, telemetryka.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